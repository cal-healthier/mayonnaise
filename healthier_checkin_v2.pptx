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147376791" r:id="rId12"/>
    <p:sldId id="2147376792" r:id="rId14"/>
    <p:sldId id="2147376793" r:id="rId15"/>
    <p:sldId id="2147376794" r:id="rId16"/>
    <p:sldId id="2147376795" r:id="rId17"/>
    <p:sldId id="2147376796" r:id="rId18"/>
    <p:sldId id="2147376797" r:id="rId19"/>
    <p:sldId id="2147376798" r:id="rId20"/>
    <p:sldId id="2147376799" r:id="rId21"/>
    <p:sldId id="21473768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1C1143-EDFA-DD7E-BB00-52844560A3DD}" name="Sundsbak, Jamie L." initials="SJ" userId="S::sundsbak.jamie@mayo.edu::6b7f65c6-9b1f-4596-ae35-1936f1c4f685" providerId="AD"/>
  <p188:author id="{E6EB61C4-3507-0487-7FE7-DA0294F2ED12}" name="Resnick, Adam S." initials="RA" userId="S::resnick.adam@mayo.edu::18ed4289-77ec-4840-879e-996afcfced9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8/10/relationships/authors" Target="authors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snick, Adam S." userId="18ed4289-77ec-4840-879e-996afcfced9f" providerId="ADAL" clId="{A20AA77D-CE0A-400D-9749-3390BC3CC0D0}"/>
    <pc:docChg chg="custSel modSld">
      <pc:chgData name="Resnick, Adam S." userId="18ed4289-77ec-4840-879e-996afcfced9f" providerId="ADAL" clId="{A20AA77D-CE0A-400D-9749-3390BC3CC0D0}" dt="2026-04-15T21:49:10.805" v="476" actId="20577"/>
      <pc:docMkLst>
        <pc:docMk/>
      </pc:docMkLst>
      <pc:sldChg chg="delSp modSp mod">
        <pc:chgData name="Resnick, Adam S." userId="18ed4289-77ec-4840-879e-996afcfced9f" providerId="ADAL" clId="{A20AA77D-CE0A-400D-9749-3390BC3CC0D0}" dt="2026-04-15T21:49:10.805" v="476" actId="20577"/>
        <pc:sldMkLst>
          <pc:docMk/>
          <pc:sldMk cId="4009871938" sldId="2147376790"/>
        </pc:sldMkLst>
        <pc:spChg chg="mod">
          <ac:chgData name="Resnick, Adam S." userId="18ed4289-77ec-4840-879e-996afcfced9f" providerId="ADAL" clId="{A20AA77D-CE0A-400D-9749-3390BC3CC0D0}" dt="2026-04-15T21:48:27.526" v="456" actId="1076"/>
          <ac:spMkLst>
            <pc:docMk/>
            <pc:sldMk cId="4009871938" sldId="2147376790"/>
            <ac:spMk id="5" creationId="{FA6F76B2-0501-3637-3C00-7A2C0C9500FF}"/>
          </ac:spMkLst>
        </pc:spChg>
        <pc:spChg chg="del">
          <ac:chgData name="Resnick, Adam S." userId="18ed4289-77ec-4840-879e-996afcfced9f" providerId="ADAL" clId="{A20AA77D-CE0A-400D-9749-3390BC3CC0D0}" dt="2026-04-15T21:48:24.908" v="455" actId="478"/>
          <ac:spMkLst>
            <pc:docMk/>
            <pc:sldMk cId="4009871938" sldId="2147376790"/>
            <ac:spMk id="6" creationId="{41A4666F-445D-8CEE-456D-8600902DA1EE}"/>
          </ac:spMkLst>
        </pc:spChg>
        <pc:spChg chg="mod">
          <ac:chgData name="Resnick, Adam S." userId="18ed4289-77ec-4840-879e-996afcfced9f" providerId="ADAL" clId="{A20AA77D-CE0A-400D-9749-3390BC3CC0D0}" dt="2026-04-15T21:49:10.805" v="476" actId="20577"/>
          <ac:spMkLst>
            <pc:docMk/>
            <pc:sldMk cId="4009871938" sldId="2147376790"/>
            <ac:spMk id="9" creationId="{9F58F0F3-BE1B-5E19-8A1E-18BD999EF6CF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Healthier Intelligence. Week 4 of data access. Calder Morton-Ferguson.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found the cancer patients, and the key point is that most come to Mayo FOR TREATMENT. So we have the before-and-after treatment data - which is what the next slide builds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decision. NOT early detection (pre-diagnosis data isn't here). Treatment response is the honest fit, with ~20,000 patients who have a clear did-it-come-back outcome. Still finalizing exact question with mentors.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range, and quietly explains why we're NOT doing a genetics study - that data is thin. Imaging is huge and kept as an option. This supports the 'still scoping'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bridge: Oncoformer is technically an early-detection model, but we said no to early detection. So be explicit: it inspires our METHOD, not our TASK. We adapt the approach to treatment response. The figure is the authors' own - cite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bullseye technical mentor. He literally built a foundation model on Mayo data and knows the compute and validation constraints we're hitting.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clinical grounding + evaluation expertise. Keeps the study clinically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business/commercial mentor (vs. the two technical ones). Parth specifically wants employer-sponsored go-to-market support. Frame honestly - she's the commercial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Warm, honest close. It's going well, we're having fun, still scoping, will continue. Hands into the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time for the 20-minute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u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2919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2400" b="0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7761FA5C-E22F-4F5C-A26B-56480725E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762C1306-973B-4DB2-815B-C5DADFAD9A3B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6697EB-BEAA-42D1-9335-350763C15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C5292F-0A14-4A54-9DF6-86D4B39BBE7E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D19615D2-8706-43B1-8BD5-11ECE80FAF5A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337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full bleed imag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C7B4E5EE-5475-428A-A554-E308B6E5D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DD49F2-FBAC-4FCB-BE1A-FB97C46DF1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08AC7D-9034-4171-8DF5-2043DA4CD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864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5500" b="1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7F380-56BD-4E3A-BE96-E3BE0747874D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6DF431B-F84F-4E92-B170-BFFDAED7E9F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544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 full bleed image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4DD2032-3DA6-4653-BA61-0F66BD8132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7812" y="2514600"/>
            <a:ext cx="5363293" cy="806450"/>
          </a:xfrm>
          <a:prstGeom prst="rect">
            <a:avLst/>
          </a:prstGeom>
        </p:spPr>
      </p:pic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0DDF3222-358B-4BF7-8638-784371C02D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2" y="345083"/>
            <a:ext cx="1931508" cy="3766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65F197-B1B8-4584-8B75-5D45B647D250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C35E112-B595-4BF2-B0E0-B3E570FB4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864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5500" b="1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2AD4B-0120-41F2-8DD6-08CC644FD0B6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bg1"/>
                </a:solidFill>
              </a:rPr>
              <a:t>©</a:t>
            </a:r>
            <a:fld id="{9BF72535-BFCB-417A-862E-A9A77D706251}" type="datetimeyyyy">
              <a:rPr lang="en-US" sz="800" smtClean="0">
                <a:solidFill>
                  <a:schemeClr val="bg1"/>
                </a:solidFill>
              </a:rPr>
              <a:t>2026</a:t>
            </a:fld>
            <a:r>
              <a:rPr lang="en-US" sz="800">
                <a:solidFill>
                  <a:schemeClr val="bg1"/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bg1"/>
                </a:solidFill>
              </a:rPr>
              <a:t>‹#›</a:t>
            </a:fld>
            <a:r>
              <a:rPr lang="en-US" sz="80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811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7761FA5C-E22F-4F5C-A26B-56480725E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51" y="345083"/>
            <a:ext cx="1930903" cy="3766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7DE3DAD0-E107-4D2D-9BA9-9673689301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38990" y="0"/>
            <a:ext cx="581632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D50AEDE-D9A3-4881-B10B-01C4A1FEF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2919" y="3267075"/>
            <a:ext cx="9457860" cy="984250"/>
          </a:xfrm>
        </p:spPr>
        <p:txBody>
          <a:bodyPr lIns="0" tIns="45720" rIns="0" bIns="0" anchor="t" anchorCtr="0">
            <a:noAutofit/>
          </a:bodyPr>
          <a:lstStyle>
            <a:lvl1pPr algn="l">
              <a:lnSpc>
                <a:spcPct val="80000"/>
              </a:lnSpc>
              <a:defRPr sz="2400" b="0" cap="none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B9067-3188-47B7-9197-421B3F1E3E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282" y="2514600"/>
            <a:ext cx="5297279" cy="812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56572B-B447-4E16-8596-3BCA160D2C6F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4CF53B5C-E093-41E3-8336-D51223FD2571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56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580" y="19892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D10A79D-328F-4191-AA48-53B84B97EB8D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46BF2D-F522-49AE-9779-9946F572FA5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89580" y="23210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56987D-9C0B-46F4-BC79-6A6017D8D2E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9580" y="281796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3937FF-5E62-4AA5-9892-52F584F798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89580" y="314181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F51FA8E-B936-41E9-BF8E-58B86981FDD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89580" y="364664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B9EAF2-9649-43F1-B2CE-B378FAE96A1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9580" y="39704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327205-2EEC-4E1D-AE7F-E7B41FE6AC9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89580" y="44657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4EEBE9F-3D3A-4402-9C52-B3CF3619859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89580" y="47975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345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able of Contents_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3D10A79D-328F-4191-AA48-53B84B97EB8D}"/>
              </a:ext>
            </a:extLst>
          </p:cNvPr>
          <p:cNvSpPr/>
          <p:nvPr userDrawn="1"/>
        </p:nvSpPr>
        <p:spPr>
          <a:xfrm>
            <a:off x="7317106" y="6202496"/>
            <a:ext cx="4874895" cy="65550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AD52CC7-7AC3-4449-B048-61B6FAF1E5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86" r="29286" b="18116"/>
          <a:stretch/>
        </p:blipFill>
        <p:spPr>
          <a:xfrm>
            <a:off x="967834" y="264320"/>
            <a:ext cx="2157179" cy="2690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089129-ED95-4DAF-8CD6-EB61E5F2AF0D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bg1"/>
                </a:solidFill>
              </a:rPr>
              <a:t>©</a:t>
            </a:r>
            <a:fld id="{AC26A522-204F-493A-B6B0-331EDF352B25}" type="datetimeyyyy">
              <a:rPr lang="en-US" sz="800" smtClean="0">
                <a:solidFill>
                  <a:schemeClr val="bg1"/>
                </a:solidFill>
              </a:rPr>
              <a:t>2026</a:t>
            </a:fld>
            <a:r>
              <a:rPr lang="en-US" sz="800">
                <a:solidFill>
                  <a:schemeClr val="bg1"/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bg1"/>
                </a:solidFill>
              </a:rPr>
              <a:t>‹#›</a:t>
            </a:fld>
            <a:r>
              <a:rPr lang="en-US" sz="8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99F615-28A9-F646-2CC6-0FBC1168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580" y="19892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62134B-11E9-05F2-6349-708F0BC4D2A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89580" y="23210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A7D9F1-B173-2A38-5A9E-8ACF9F22EFE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89580" y="281796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C2A1B-B21C-69D9-BB72-966E53CD34E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89580" y="3141817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80BE14-B732-3639-EB89-AE9BAD84A08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89580" y="364664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98156D-DAEE-9BEF-3C33-A9E1FBEE55B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89580" y="39704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37F8E29-F88A-C94E-B7F8-D5EB9522485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89580" y="4465792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22D04A2-7530-63CF-324C-6F1F710E1321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89580" y="4797525"/>
            <a:ext cx="10000679" cy="323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01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arning objective black_gray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1486" y="2366170"/>
            <a:ext cx="3066261" cy="2125663"/>
          </a:xfrm>
        </p:spPr>
        <p:txBody>
          <a:bodyPr tIns="0" bIns="0" anchor="ctr" anchorCtr="0"/>
          <a:lstStyle>
            <a:lvl1pPr>
              <a:defRPr sz="3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041DE-3EBC-45CC-AE9B-D09EFBE342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2EA06-80B1-4865-8401-CE28FEA75BD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5ADF1EC4-4DDF-4EAC-A532-31E7E61EAC46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3A33E-1A48-E391-A929-C57A5B001A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647" y="1600200"/>
            <a:ext cx="6676859" cy="3657600"/>
          </a:xfrm>
        </p:spPr>
        <p:txBody>
          <a:bodyPr anchor="ctr" anchorCtr="0"/>
          <a:lstStyle>
            <a:lvl1pPr>
              <a:lnSpc>
                <a:spcPct val="125000"/>
              </a:lnSpc>
              <a:spcBef>
                <a:spcPts val="1200"/>
              </a:spcBef>
              <a:defRPr sz="1600"/>
            </a:lvl1pPr>
            <a:lvl2pPr>
              <a:lnSpc>
                <a:spcPct val="125000"/>
              </a:lnSpc>
              <a:spcBef>
                <a:spcPts val="600"/>
              </a:spcBef>
              <a:defRPr sz="1600"/>
            </a:lvl2pPr>
            <a:lvl3pPr>
              <a:lnSpc>
                <a:spcPct val="125000"/>
              </a:lnSpc>
              <a:spcBef>
                <a:spcPts val="600"/>
              </a:spcBef>
              <a:defRPr sz="1600"/>
            </a:lvl3pPr>
            <a:lvl4pPr>
              <a:lnSpc>
                <a:spcPct val="125000"/>
              </a:lnSpc>
              <a:spcBef>
                <a:spcPts val="600"/>
              </a:spcBef>
              <a:defRPr sz="1600"/>
            </a:lvl4pPr>
            <a:lvl5pPr>
              <a:lnSpc>
                <a:spcPct val="125000"/>
              </a:lnSpc>
              <a:spcBef>
                <a:spcPts val="6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34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27A61-6080-402F-B81E-CC83DB9A6D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6163" y="2840039"/>
            <a:ext cx="4843136" cy="1392237"/>
          </a:xfrm>
        </p:spPr>
        <p:txBody>
          <a:bodyPr bIns="0" anchor="ctr" anchorCtr="0"/>
          <a:lstStyle>
            <a:lvl1pPr marL="0" indent="0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B8ED5C6-5B4C-9D47-8AA4-7E0BBD72AA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73392" y="2505671"/>
            <a:ext cx="1578690" cy="2077492"/>
          </a:xfrm>
          <a:prstGeom prst="rect">
            <a:avLst/>
          </a:prstGeom>
        </p:spPr>
        <p:txBody>
          <a:bodyPr bIns="0">
            <a:spAutoFit/>
          </a:bodyPr>
          <a:lstStyle>
            <a:lvl1pPr marL="0" indent="0">
              <a:buNone/>
              <a:defRPr sz="150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6E3DA-E5DF-46E8-B778-FA9FF138A07E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5179E60C-C600-49A3-9275-FC02ECA1FADD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10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06239" y="2845917"/>
            <a:ext cx="2067462" cy="1397000"/>
          </a:xfrm>
        </p:spPr>
        <p:txBody>
          <a:bodyPr tIns="0" bIns="0" anchor="t" anchorCtr="0"/>
          <a:lstStyle>
            <a:lvl1pPr algn="l">
              <a:defRPr sz="32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B8ED5C6-5B4C-9D47-8AA4-7E0BBD72AA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73392" y="2505671"/>
            <a:ext cx="1578690" cy="2077492"/>
          </a:xfrm>
          <a:prstGeom prst="rect">
            <a:avLst/>
          </a:prstGeom>
        </p:spPr>
        <p:txBody>
          <a:bodyPr bIns="0">
            <a:spAutoFit/>
          </a:bodyPr>
          <a:lstStyle>
            <a:lvl1pPr marL="0" indent="0">
              <a:buNone/>
              <a:defRPr sz="150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880CE23-2AA5-4E99-B664-CBDBC030E2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90813" y="0"/>
            <a:ext cx="72011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EB29D-4AFF-46CE-AB78-139340BF0BD3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1EB49A7-ABC9-43EF-AB67-C3AA64B02D32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552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photo_no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2845917"/>
            <a:ext cx="3622031" cy="1397000"/>
          </a:xfrm>
        </p:spPr>
        <p:txBody>
          <a:bodyPr tIns="0" bIns="0" anchor="ctr" anchorCtr="0"/>
          <a:lstStyle>
            <a:lvl1pPr algn="l">
              <a:defRPr sz="32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880CE23-2AA5-4E99-B664-CBDBC030E2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90813" y="0"/>
            <a:ext cx="7201187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A08D6-9CDF-48F0-A1BF-C3B36B8E66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270" y="4895851"/>
            <a:ext cx="3631558" cy="371475"/>
          </a:xfrm>
        </p:spPr>
        <p:txBody>
          <a:bodyPr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1443BC-B0D6-4FCD-ACDE-1359B026F6A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3CDE0C6F-C52D-42D7-976F-45F69A1CBB3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258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35201" y="6135688"/>
            <a:ext cx="9424849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1" y="2136775"/>
            <a:ext cx="9985646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8818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arg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2919" y="2663408"/>
            <a:ext cx="5911802" cy="3851692"/>
          </a:xfrm>
        </p:spPr>
        <p:txBody>
          <a:bodyPr bIns="0" anchor="b" anchorCtr="0">
            <a:noAutofit/>
          </a:bodyPr>
          <a:lstStyle>
            <a:lvl1pPr algn="l">
              <a:lnSpc>
                <a:spcPct val="85000"/>
              </a:lnSpc>
              <a:defRPr sz="14000" b="0" baseline="0"/>
            </a:lvl1pPr>
          </a:lstStyle>
          <a:p>
            <a:r>
              <a:rPr lang="en-US"/>
              <a:t>Click 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3E187CD-00C9-4724-B833-13D016405B43}"/>
              </a:ext>
            </a:extLst>
          </p:cNvPr>
          <p:cNvSpPr/>
          <p:nvPr userDrawn="1"/>
        </p:nvSpPr>
        <p:spPr>
          <a:xfrm>
            <a:off x="7239299" y="0"/>
            <a:ext cx="4952702" cy="635386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F78D34A-7586-41BD-B38C-165406ED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298" y="4657725"/>
            <a:ext cx="3735619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2083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arge Headline_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392" y="1981200"/>
            <a:ext cx="10686658" cy="1434187"/>
          </a:xfrm>
        </p:spPr>
        <p:txBody>
          <a:bodyPr bIns="0" anchor="b" anchorCtr="0"/>
          <a:lstStyle>
            <a:lvl1pPr>
              <a:lnSpc>
                <a:spcPct val="85000"/>
              </a:lnSpc>
              <a:defRPr sz="7500" b="0" baseline="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63E187CD-00C9-4724-B833-13D016405B43}"/>
              </a:ext>
            </a:extLst>
          </p:cNvPr>
          <p:cNvSpPr/>
          <p:nvPr userDrawn="1"/>
        </p:nvSpPr>
        <p:spPr>
          <a:xfrm>
            <a:off x="7239299" y="-20118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A5484A5-DEB1-4030-926E-C4C1EE5DEB2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89271" y="4657725"/>
            <a:ext cx="4001542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5C6A030-190F-46CE-9670-7B8B5F931B1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62539" y="4657725"/>
            <a:ext cx="4006115" cy="1666875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87E50-1D28-425D-9698-D6E88B859E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9271" y="3428999"/>
            <a:ext cx="10670779" cy="804672"/>
          </a:xfrm>
        </p:spPr>
        <p:txBody>
          <a:bodyPr bIns="0"/>
          <a:lstStyle>
            <a:lvl1pPr marL="0" indent="0">
              <a:buNone/>
              <a:defRPr sz="5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2449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50/50 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F67CE1-2E7A-41FD-A8A1-8FA22EBE1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709" y="817496"/>
            <a:ext cx="4760728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4B7DFF7-DA5A-4044-80A0-3220F5C542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9457" y="0"/>
            <a:ext cx="7198203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B4E11BA-3020-C1C7-8B3D-314DCFA4B6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9271" y="2130678"/>
            <a:ext cx="4006115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214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50 white/50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38841C-7BF9-D85F-0058-48ACE80F47DD}"/>
              </a:ext>
            </a:extLst>
          </p:cNvPr>
          <p:cNvSpPr/>
          <p:nvPr userDrawn="1"/>
        </p:nvSpPr>
        <p:spPr>
          <a:xfrm>
            <a:off x="6096001" y="0"/>
            <a:ext cx="6095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F67CE1-2E7A-41FD-A8A1-8FA22EBE1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709" y="817496"/>
            <a:ext cx="4760728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B4E11BA-3020-C1C7-8B3D-314DCFA4B63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9271" y="2130678"/>
            <a:ext cx="4006115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561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 w_individual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580" y="817496"/>
            <a:ext cx="10001526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2"/>
          </p:nvPr>
        </p:nvSpPr>
        <p:spPr>
          <a:xfrm>
            <a:off x="980052" y="3003551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half" idx="17"/>
          </p:nvPr>
        </p:nvSpPr>
        <p:spPr>
          <a:xfrm>
            <a:off x="980052" y="2143126"/>
            <a:ext cx="9995915" cy="544769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spcBef>
                <a:spcPts val="200"/>
              </a:spcBef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25"/>
          </p:nvPr>
        </p:nvSpPr>
        <p:spPr>
          <a:xfrm>
            <a:off x="980052" y="4204112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27"/>
          </p:nvPr>
        </p:nvSpPr>
        <p:spPr>
          <a:xfrm>
            <a:off x="980052" y="5408615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615C671-DD4C-431C-AE6E-1FC1ED1E336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6455178" y="3003551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1505A0A7-C00C-4C2C-933A-615C11C0C4CE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6455178" y="4204112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A52A0930-968A-4E70-8423-3071E02D6E58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6455178" y="5408615"/>
            <a:ext cx="4536605" cy="295275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11DA1E6-DE2A-F0C9-CAC6-116871FFFF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80052" y="3307651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3AA4370-DDEF-C69D-84A0-35EDE07BBDB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80052" y="4510060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03D2462-7636-7DCD-DCC7-CCEFE32E94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80052" y="5708652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0807928-59C1-975D-850F-9208AADB37C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455178" y="3307651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D51D37A-054F-1185-77A6-7EA13920608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455178" y="4510060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ABC9356-C073-0E87-11F3-2685AF8B583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455178" y="5708652"/>
            <a:ext cx="4536605" cy="557784"/>
          </a:xfrm>
        </p:spPr>
        <p:txBody>
          <a:bodyPr tIns="45720"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97746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ic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580" y="817496"/>
            <a:ext cx="10001526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80052" y="2143126"/>
            <a:ext cx="10002267" cy="6217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89580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541578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119291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8697003" y="4404734"/>
            <a:ext cx="2286595" cy="274320"/>
          </a:xfrm>
          <a:prstGeom prst="rect">
            <a:avLst/>
          </a:prstGeom>
        </p:spPr>
        <p:txBody>
          <a:bodyPr bIns="45720" anchor="b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3848E9F-AD1A-B22D-15F5-EAF5C2779F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9580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226CAAE-56CB-F918-D2FD-BC4ED72DE2F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41578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BB01ABE-0DCB-C746-29FE-5D3CDE3D42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19291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BC112C0-3EAA-CAF6-5586-672D88D838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97003" y="4680543"/>
            <a:ext cx="2286595" cy="144475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9430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ulleted text_3 icon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A15B5C0-810F-49B1-B50E-E39BBAEAEC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68856" y="213360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12EAB2-81B9-4E21-9FDD-A3A185DA65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168856" y="343852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BA5B7B9-077D-40AA-84E6-8B1A4B613B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68856" y="475297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7A48F40F-4593-44F7-BF04-C896EF2E4A43}"/>
              </a:ext>
            </a:extLst>
          </p:cNvPr>
          <p:cNvSpPr/>
          <p:nvPr userDrawn="1"/>
        </p:nvSpPr>
        <p:spPr>
          <a:xfrm>
            <a:off x="7239299" y="6202496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60AFF-E603-B40A-55F2-AAEECF19B8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68856" y="2422775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5F9236-7D4D-11B3-A65A-E9F13DF03A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68856" y="3725545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B78F5AA-A962-78F4-8413-5EC2AC6EB4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68856" y="5043170"/>
            <a:ext cx="2286595" cy="64008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44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trategy and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89580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24"/>
          </p:nvPr>
        </p:nvSpPr>
        <p:spPr>
          <a:xfrm>
            <a:off x="989580" y="2432050"/>
            <a:ext cx="10001526" cy="552450"/>
          </a:xfrm>
          <a:prstGeom prst="rect">
            <a:avLst/>
          </a:prstGeom>
        </p:spPr>
        <p:txBody>
          <a:bodyPr tIns="45720"/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800"/>
            </a:lvl2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989686" y="2143125"/>
            <a:ext cx="10004002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7757D34-B5B7-47AD-AE62-7CA370616FC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47580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4F53157F-C018-4A4C-82A0-9761BBAC5B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21767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DBAA90D9-8B22-4EB3-AB4B-DA12D85F0CC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86526" y="371475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6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E5DA5AC7-A590-44E1-860D-2F7CCC2CC9B1}"/>
              </a:ext>
            </a:extLst>
          </p:cNvPr>
          <p:cNvSpPr/>
          <p:nvPr userDrawn="1"/>
        </p:nvSpPr>
        <p:spPr>
          <a:xfrm>
            <a:off x="7239299" y="0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5CF58-1CF2-68BA-4338-7F79ABFF142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686526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3C06C92-2D4A-8082-B5CD-18B4264E46E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21767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80CEF5-26E0-0F69-433C-813A47BDB05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547580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B78B054-886C-BC71-D248-EA9F55C2E8E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89580" y="3997225"/>
            <a:ext cx="2286595" cy="124358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7101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ckgroun_Recomme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096001" y="0"/>
            <a:ext cx="6095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7239299" y="2143125"/>
            <a:ext cx="4430279" cy="383755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6F553C-A1E9-48DA-8ADD-2CC97D313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F5E8B1-22AF-4559-A885-0D1721DF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8159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Content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2" y="2366170"/>
            <a:ext cx="3075788" cy="2125663"/>
          </a:xfrm>
        </p:spPr>
        <p:txBody>
          <a:bodyPr tIns="0" bIns="0" anchor="ctr" anchorCtr="0"/>
          <a:lstStyle>
            <a:lvl1pPr>
              <a:defRPr sz="3200" b="0" baseline="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4990813" y="1759602"/>
            <a:ext cx="3145656" cy="221599"/>
          </a:xfrm>
          <a:prstGeom prst="rect">
            <a:avLst/>
          </a:prstGeom>
        </p:spPr>
        <p:txBody>
          <a:bodyPr bIns="0" anchor="b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992401" y="2133600"/>
            <a:ext cx="3145656" cy="3450209"/>
          </a:xfrm>
          <a:prstGeom prst="rect">
            <a:avLst/>
          </a:prstGeom>
        </p:spPr>
        <p:txBody>
          <a:bodyPr tIns="9144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2"/>
          </p:nvPr>
        </p:nvSpPr>
        <p:spPr>
          <a:xfrm>
            <a:off x="8525510" y="1759602"/>
            <a:ext cx="3145656" cy="221599"/>
          </a:xfrm>
          <a:prstGeom prst="rect">
            <a:avLst/>
          </a:prstGeom>
        </p:spPr>
        <p:txBody>
          <a:bodyPr bIns="0" anchor="b" anchorCtr="0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41" indent="0">
              <a:buNone/>
              <a:defRPr sz="2000" b="1"/>
            </a:lvl2pPr>
            <a:lvl3pPr marL="914484" indent="0">
              <a:buNone/>
              <a:defRPr sz="1900" b="1"/>
            </a:lvl3pPr>
            <a:lvl4pPr marL="1371725" indent="0">
              <a:buNone/>
              <a:defRPr sz="1600" b="1"/>
            </a:lvl4pPr>
            <a:lvl5pPr marL="1828968" indent="0">
              <a:buNone/>
              <a:defRPr sz="1600" b="1"/>
            </a:lvl5pPr>
            <a:lvl6pPr marL="2286209" indent="0">
              <a:buNone/>
              <a:defRPr sz="1600" b="1"/>
            </a:lvl6pPr>
            <a:lvl7pPr marL="2743452" indent="0">
              <a:buNone/>
              <a:defRPr sz="1600" b="1"/>
            </a:lvl7pPr>
            <a:lvl8pPr marL="3200693" indent="0">
              <a:buNone/>
              <a:defRPr sz="1600" b="1"/>
            </a:lvl8pPr>
            <a:lvl9pPr marL="36579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3"/>
          </p:nvPr>
        </p:nvSpPr>
        <p:spPr>
          <a:xfrm>
            <a:off x="8527097" y="2133600"/>
            <a:ext cx="3145656" cy="3450209"/>
          </a:xfrm>
          <a:prstGeom prst="rect">
            <a:avLst/>
          </a:prstGeom>
        </p:spPr>
        <p:txBody>
          <a:bodyPr vert="horz" lIns="0" tIns="91440" rIns="0" bIns="45724" rtlCol="0">
            <a:noAutofit/>
          </a:bodyPr>
          <a:lstStyle>
            <a:lvl1pPr>
              <a:defRPr lang="en-US" sz="1600" dirty="0" smtClean="0">
                <a:solidFill>
                  <a:schemeClr val="tx1"/>
                </a:solidFill>
              </a:defRPr>
            </a:lvl1pPr>
            <a:lvl2pPr>
              <a:buClrTx/>
              <a:defRPr lang="en-US" sz="1600" dirty="0" smtClean="0">
                <a:solidFill>
                  <a:schemeClr val="tx1"/>
                </a:solidFill>
              </a:defRPr>
            </a:lvl2pPr>
            <a:lvl3pPr>
              <a:buClrTx/>
              <a:defRPr lang="en-US" sz="1600" dirty="0" smtClean="0">
                <a:solidFill>
                  <a:schemeClr val="tx1"/>
                </a:solidFill>
              </a:defRPr>
            </a:lvl3pPr>
            <a:lvl4pPr>
              <a:buClrTx/>
              <a:defRPr lang="en-US" sz="1600" dirty="0" smtClean="0">
                <a:solidFill>
                  <a:schemeClr val="tx1"/>
                </a:solidFill>
              </a:defRPr>
            </a:lvl4pPr>
            <a:lvl5pPr>
              <a:buClrTx/>
              <a:defRPr lang="en-US" sz="16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12339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Title only_no 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3168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Title only_no Plat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4C025-E161-46FC-B16C-F0C4016A3645}"/>
              </a:ext>
            </a:extLst>
          </p:cNvPr>
          <p:cNvSpPr txBox="1"/>
          <p:nvPr userDrawn="1"/>
        </p:nvSpPr>
        <p:spPr>
          <a:xfrm>
            <a:off x="989270" y="6481721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For internal use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50C7CF-B995-41E0-93C3-AA8B71C2829A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DC944107-1859-45B0-8623-2A9C5617EF70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0564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817496"/>
            <a:ext cx="5573576" cy="7827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969457-32F7-4AFA-BBCE-4B3A88CB6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689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Horizontal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817496"/>
            <a:ext cx="5573576" cy="78270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7969457-32F7-4AFA-BBCE-4B3A88CB61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4763741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071B1C1E-15E5-43DB-B6B4-875DBE288D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" y="2286000"/>
            <a:ext cx="12192000" cy="45720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13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60%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990813" y="0"/>
            <a:ext cx="72011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Content Placeholder 2"/>
          <p:cNvSpPr>
            <a:spLocks noGrp="1"/>
          </p:cNvSpPr>
          <p:nvPr>
            <p:ph idx="12"/>
          </p:nvPr>
        </p:nvSpPr>
        <p:spPr>
          <a:xfrm>
            <a:off x="5753012" y="2143125"/>
            <a:ext cx="5916566" cy="3837558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buClrTx/>
              <a:defRPr sz="1600">
                <a:solidFill>
                  <a:schemeClr val="tx1"/>
                </a:solidFill>
              </a:defRPr>
            </a:lvl2pPr>
            <a:lvl3pPr>
              <a:buClrTx/>
              <a:defRPr sz="1600">
                <a:solidFill>
                  <a:schemeClr val="tx1"/>
                </a:solidFill>
              </a:defRPr>
            </a:lvl3pPr>
            <a:lvl4pPr>
              <a:buClrTx/>
              <a:defRPr sz="1600">
                <a:solidFill>
                  <a:schemeClr val="tx1"/>
                </a:solidFill>
              </a:defRPr>
            </a:lvl4pPr>
            <a:lvl5pPr>
              <a:buClrTx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6F553C-A1E9-48DA-8ADD-2CC97D313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0" y="817496"/>
            <a:ext cx="3658553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F5E8B1-22AF-4559-A885-0D1721DF2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68" y="2143126"/>
            <a:ext cx="3658553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00615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E13790-9459-4E4F-BC91-30EFD03C99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89271" y="2809876"/>
            <a:ext cx="9984800" cy="1000125"/>
          </a:xfrm>
        </p:spPr>
        <p:txBody>
          <a:bodyPr/>
          <a:lstStyle>
            <a:lvl1pPr marL="0" indent="0" algn="ctr">
              <a:buNone/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46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09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92" y="2143126"/>
            <a:ext cx="10001526" cy="38430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94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926377" y="536576"/>
            <a:ext cx="2743200" cy="5435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3391" y="536576"/>
            <a:ext cx="7594488" cy="5435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038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74025" y="536575"/>
            <a:ext cx="10243948" cy="10604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626703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392" y="1590674"/>
            <a:ext cx="10001526" cy="43891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973392" y="0"/>
            <a:ext cx="3384161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570390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Bulleted text_3 icon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BF1F25-4DBB-4DB7-90C3-C0CF44C9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270" y="2143126"/>
            <a:ext cx="4763741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D3BC725-26D8-48F2-9E2E-41D0154C89DA}"/>
              </a:ext>
            </a:extLst>
          </p:cNvPr>
          <p:cNvSpPr/>
          <p:nvPr userDrawn="1"/>
        </p:nvSpPr>
        <p:spPr>
          <a:xfrm>
            <a:off x="989271" y="1714726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43E3F5-9637-4C36-AA3D-3706E36587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87476" y="2416076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A15B5C0-810F-49B1-B50E-E39BBAEAEC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87476" y="2133600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A942E5-68AC-4A40-95ED-72A7EE7DE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87476" y="3721001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12EAB2-81B9-4E21-9FDD-A3A185DA65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87476" y="343852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304D0F0-05FA-4DD5-BBA6-20F66C49DA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687476" y="5035451"/>
            <a:ext cx="2286595" cy="637097"/>
          </a:xfrm>
          <a:prstGeom prst="rect">
            <a:avLst/>
          </a:prstGeom>
        </p:spPr>
        <p:txBody>
          <a:bodyPr tIns="91440" bIns="45720">
            <a:noAutofit/>
          </a:bodyPr>
          <a:lstStyle>
            <a:lvl1pPr marL="0" indent="0">
              <a:spcBef>
                <a:spcPts val="60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9BA5B7B9-077D-40AA-84E6-8B1A4B613B1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87476" y="4752975"/>
            <a:ext cx="2286595" cy="274320"/>
          </a:xfrm>
          <a:prstGeom prst="rect">
            <a:avLst/>
          </a:prstGeom>
        </p:spPr>
        <p:txBody>
          <a:bodyPr bIns="0"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Rectangle">
            <a:extLst>
              <a:ext uri="{FF2B5EF4-FFF2-40B4-BE49-F238E27FC236}">
                <a16:creationId xmlns:a16="http://schemas.microsoft.com/office/drawing/2014/main" id="{7A48F40F-4593-44F7-BF04-C896EF2E4A43}"/>
              </a:ext>
            </a:extLst>
          </p:cNvPr>
          <p:cNvSpPr/>
          <p:nvPr userDrawn="1"/>
        </p:nvSpPr>
        <p:spPr>
          <a:xfrm>
            <a:off x="7239299" y="6202496"/>
            <a:ext cx="4952702" cy="65550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8412039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Title only_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5F8FF80E-2644-3D91-EF2A-3FA661B9A01A}"/>
              </a:ext>
            </a:extLst>
          </p:cNvPr>
          <p:cNvSpPr/>
          <p:nvPr userDrawn="1"/>
        </p:nvSpPr>
        <p:spPr>
          <a:xfrm>
            <a:off x="989271" y="1539627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6495432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Title only_blu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CECBDF-7608-441D-B813-0625813C38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9271" y="817496"/>
            <a:ext cx="9984800" cy="5873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44F1D12E-1923-4E43-ACC6-7B8F37C89F2E}"/>
              </a:ext>
            </a:extLst>
          </p:cNvPr>
          <p:cNvSpPr/>
          <p:nvPr userDrawn="1"/>
        </p:nvSpPr>
        <p:spPr>
          <a:xfrm>
            <a:off x="989271" y="1714726"/>
            <a:ext cx="414336" cy="66544"/>
          </a:xfrm>
          <a:prstGeom prst="rect">
            <a:avLst/>
          </a:prstGeom>
          <a:solidFill>
            <a:srgbClr val="0057B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130346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yo 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4226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2" y="3086100"/>
            <a:ext cx="10001526" cy="685800"/>
          </a:xfrm>
        </p:spPr>
        <p:txBody>
          <a:bodyPr anchor="t" anchorCtr="0"/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-1624947" y="3362308"/>
            <a:ext cx="3383280" cy="133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4167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arning objective black_gray_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7575" y="0"/>
            <a:ext cx="777442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81486" y="2366170"/>
            <a:ext cx="3066261" cy="2125663"/>
          </a:xfrm>
        </p:spPr>
        <p:txBody>
          <a:bodyPr tIns="0" bIns="0" anchor="ctr" anchorCtr="0"/>
          <a:lstStyle>
            <a:lvl1pPr>
              <a:defRPr sz="32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13"/>
          </p:nvPr>
        </p:nvSpPr>
        <p:spPr>
          <a:xfrm>
            <a:off x="4992400" y="1597026"/>
            <a:ext cx="6680353" cy="366395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174625" indent="-174625">
              <a:lnSpc>
                <a:spcPct val="125000"/>
              </a:lnSpc>
              <a:buFont typeface="Arial" panose="020B0604020202020204" pitchFamily="34" charset="0"/>
              <a:buChar char="•"/>
              <a:defRPr lang="en-US" sz="2400" dirty="0" smtClean="0">
                <a:solidFill>
                  <a:schemeClr val="tx1"/>
                </a:solidFill>
              </a:defRPr>
            </a:lvl1pPr>
            <a:lvl2pPr marL="457200" indent="0">
              <a:buClr>
                <a:schemeClr val="tx1"/>
              </a:buClr>
              <a:buNone/>
              <a:defRPr lang="en-US" sz="2200" dirty="0" smtClean="0"/>
            </a:lvl2pPr>
            <a:lvl3pPr marL="914400" indent="0">
              <a:buClr>
                <a:schemeClr val="tx1"/>
              </a:buClr>
              <a:buNone/>
              <a:defRPr lang="en-US" sz="2200" dirty="0" smtClean="0"/>
            </a:lvl3pPr>
            <a:lvl4pPr marL="1371600" indent="0">
              <a:buClr>
                <a:schemeClr val="tx1"/>
              </a:buClr>
              <a:buNone/>
              <a:defRPr lang="en-US" sz="2200" dirty="0" smtClean="0"/>
            </a:lvl4pPr>
            <a:lvl5pPr marL="1828800" indent="0">
              <a:buClr>
                <a:schemeClr val="tx1"/>
              </a:buClr>
              <a:buNone/>
              <a:defRPr lang="en-US" sz="22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041DE-3EBC-45CC-AE9B-D09EFBE342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E2EA06-80B1-4865-8401-CE28FEA75BD0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©2022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46412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 w/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ADAF-30A0-41A0-8D7B-A8463F20C0B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73396" y="5"/>
            <a:ext cx="3384161" cy="133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4" tIns="45703" rIns="91404" bIns="45703" rtlCol="0" anchor="ctr"/>
          <a:lstStyle/>
          <a:p>
            <a:pPr algn="ctr" defTabSz="913996"/>
            <a:endParaRPr lang="en-US" sz="1865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64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73393" y="536582"/>
            <a:ext cx="10001527" cy="587375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397" y="1984377"/>
            <a:ext cx="4770569" cy="3913123"/>
          </a:xfrm>
        </p:spPr>
        <p:txBody>
          <a:bodyPr/>
          <a:lstStyle>
            <a:lvl1pPr>
              <a:defRPr sz="1866"/>
            </a:lvl1pPr>
            <a:lvl2pPr>
              <a:defRPr sz="1866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2166" y="1984377"/>
            <a:ext cx="4774856" cy="3913123"/>
          </a:xfrm>
        </p:spPr>
        <p:txBody>
          <a:bodyPr/>
          <a:lstStyle>
            <a:lvl1pPr>
              <a:defRPr sz="1866"/>
            </a:lvl1pPr>
            <a:lvl2pPr>
              <a:defRPr sz="1866"/>
            </a:lvl2pPr>
            <a:lvl3pPr>
              <a:defRPr sz="1866"/>
            </a:lvl3pPr>
            <a:lvl4pPr>
              <a:defRPr sz="1866"/>
            </a:lvl4pPr>
            <a:lvl5pPr>
              <a:defRPr sz="1866"/>
            </a:lvl5pPr>
            <a:lvl6pPr>
              <a:defRPr sz="1866"/>
            </a:lvl6pPr>
            <a:lvl7pPr>
              <a:defRPr sz="1866"/>
            </a:lvl7pPr>
            <a:lvl8pPr>
              <a:defRPr sz="1866"/>
            </a:lvl8pPr>
            <a:lvl9pPr>
              <a:defRPr sz="18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FDFFD-5963-4897-8C8F-A51C2B612C0C}" type="datetime1">
              <a:rPr lang="en-US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4/15/2026</a:t>
            </a:fld>
            <a:endParaRPr lang="en-US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000000">
                    <a:lumMod val="50000"/>
                    <a:lumOff val="50000"/>
                  </a:srgbClr>
                </a:solidFill>
              </a:rPr>
              <a:t>Business Confidential: Not to be distributed without MCP leadership approval</a:t>
            </a:r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541482" y="6049963"/>
            <a:ext cx="419182" cy="457200"/>
          </a:xfrm>
          <a:custGeom>
            <a:avLst/>
            <a:gdLst>
              <a:gd name="T0" fmla="*/ 661 w 1089"/>
              <a:gd name="T1" fmla="*/ 944 h 1188"/>
              <a:gd name="T2" fmla="*/ 690 w 1089"/>
              <a:gd name="T3" fmla="*/ 760 h 1188"/>
              <a:gd name="T4" fmla="*/ 399 w 1089"/>
              <a:gd name="T5" fmla="*/ 967 h 1188"/>
              <a:gd name="T6" fmla="*/ 569 w 1089"/>
              <a:gd name="T7" fmla="*/ 721 h 1188"/>
              <a:gd name="T8" fmla="*/ 360 w 1089"/>
              <a:gd name="T9" fmla="*/ 930 h 1188"/>
              <a:gd name="T10" fmla="*/ 452 w 1089"/>
              <a:gd name="T11" fmla="*/ 794 h 1188"/>
              <a:gd name="T12" fmla="*/ 219 w 1089"/>
              <a:gd name="T13" fmla="*/ 794 h 1188"/>
              <a:gd name="T14" fmla="*/ 490 w 1089"/>
              <a:gd name="T15" fmla="*/ 692 h 1188"/>
              <a:gd name="T16" fmla="*/ 336 w 1089"/>
              <a:gd name="T17" fmla="*/ 999 h 1188"/>
              <a:gd name="T18" fmla="*/ 753 w 1089"/>
              <a:gd name="T19" fmla="*/ 999 h 1188"/>
              <a:gd name="T20" fmla="*/ 869 w 1089"/>
              <a:gd name="T21" fmla="*/ 794 h 1188"/>
              <a:gd name="T22" fmla="*/ 729 w 1089"/>
              <a:gd name="T23" fmla="*/ 721 h 1188"/>
              <a:gd name="T24" fmla="*/ 869 w 1089"/>
              <a:gd name="T25" fmla="*/ 794 h 1188"/>
              <a:gd name="T26" fmla="*/ 1016 w 1089"/>
              <a:gd name="T27" fmla="*/ 285 h 1188"/>
              <a:gd name="T28" fmla="*/ 1080 w 1089"/>
              <a:gd name="T29" fmla="*/ 453 h 1188"/>
              <a:gd name="T30" fmla="*/ 1062 w 1089"/>
              <a:gd name="T31" fmla="*/ 341 h 1188"/>
              <a:gd name="T32" fmla="*/ 810 w 1089"/>
              <a:gd name="T33" fmla="*/ 458 h 1188"/>
              <a:gd name="T34" fmla="*/ 872 w 1089"/>
              <a:gd name="T35" fmla="*/ 474 h 1188"/>
              <a:gd name="T36" fmla="*/ 872 w 1089"/>
              <a:gd name="T37" fmla="*/ 289 h 1188"/>
              <a:gd name="T38" fmla="*/ 758 w 1089"/>
              <a:gd name="T39" fmla="*/ 303 h 1188"/>
              <a:gd name="T40" fmla="*/ 713 w 1089"/>
              <a:gd name="T41" fmla="*/ 335 h 1188"/>
              <a:gd name="T42" fmla="*/ 528 w 1089"/>
              <a:gd name="T43" fmla="*/ 302 h 1188"/>
              <a:gd name="T44" fmla="*/ 528 w 1089"/>
              <a:gd name="T45" fmla="*/ 489 h 1188"/>
              <a:gd name="T46" fmla="*/ 573 w 1089"/>
              <a:gd name="T47" fmla="*/ 329 h 1188"/>
              <a:gd name="T48" fmla="*/ 408 w 1089"/>
              <a:gd name="T49" fmla="*/ 303 h 1188"/>
              <a:gd name="T50" fmla="*/ 408 w 1089"/>
              <a:gd name="T51" fmla="*/ 489 h 1188"/>
              <a:gd name="T52" fmla="*/ 471 w 1089"/>
              <a:gd name="T53" fmla="*/ 320 h 1188"/>
              <a:gd name="T54" fmla="*/ 408 w 1089"/>
              <a:gd name="T55" fmla="*/ 303 h 1188"/>
              <a:gd name="T56" fmla="*/ 329 w 1089"/>
              <a:gd name="T57" fmla="*/ 472 h 1188"/>
              <a:gd name="T58" fmla="*/ 309 w 1089"/>
              <a:gd name="T59" fmla="*/ 303 h 1188"/>
              <a:gd name="T60" fmla="*/ 243 w 1089"/>
              <a:gd name="T61" fmla="*/ 320 h 1188"/>
              <a:gd name="T62" fmla="*/ 379 w 1089"/>
              <a:gd name="T63" fmla="*/ 489 h 1188"/>
              <a:gd name="T64" fmla="*/ 188 w 1089"/>
              <a:gd name="T65" fmla="*/ 298 h 1188"/>
              <a:gd name="T66" fmla="*/ 193 w 1089"/>
              <a:gd name="T67" fmla="*/ 464 h 1188"/>
              <a:gd name="T68" fmla="*/ 114 w 1089"/>
              <a:gd name="T69" fmla="*/ 302 h 1188"/>
              <a:gd name="T70" fmla="*/ 884 w 1089"/>
              <a:gd name="T71" fmla="*/ 16 h 1188"/>
              <a:gd name="T72" fmla="*/ 776 w 1089"/>
              <a:gd name="T73" fmla="*/ 107 h 1188"/>
              <a:gd name="T74" fmla="*/ 776 w 1089"/>
              <a:gd name="T75" fmla="*/ 107 h 1188"/>
              <a:gd name="T76" fmla="*/ 743 w 1089"/>
              <a:gd name="T77" fmla="*/ 36 h 1188"/>
              <a:gd name="T78" fmla="*/ 702 w 1089"/>
              <a:gd name="T79" fmla="*/ 17 h 1188"/>
              <a:gd name="T80" fmla="*/ 640 w 1089"/>
              <a:gd name="T81" fmla="*/ 40 h 1188"/>
              <a:gd name="T82" fmla="*/ 568 w 1089"/>
              <a:gd name="T83" fmla="*/ 4 h 1188"/>
              <a:gd name="T84" fmla="*/ 652 w 1089"/>
              <a:gd name="T85" fmla="*/ 172 h 1188"/>
              <a:gd name="T86" fmla="*/ 714 w 1089"/>
              <a:gd name="T87" fmla="*/ 189 h 1188"/>
              <a:gd name="T88" fmla="*/ 444 w 1089"/>
              <a:gd name="T89" fmla="*/ 120 h 1188"/>
              <a:gd name="T90" fmla="*/ 437 w 1089"/>
              <a:gd name="T91" fmla="*/ 136 h 1188"/>
              <a:gd name="T92" fmla="*/ 509 w 1089"/>
              <a:gd name="T93" fmla="*/ 189 h 1188"/>
              <a:gd name="T94" fmla="*/ 567 w 1089"/>
              <a:gd name="T95" fmla="*/ 169 h 1188"/>
              <a:gd name="T96" fmla="*/ 379 w 1089"/>
              <a:gd name="T97" fmla="*/ 189 h 1188"/>
              <a:gd name="T98" fmla="*/ 164 w 1089"/>
              <a:gd name="T99" fmla="*/ 189 h 1188"/>
              <a:gd name="T100" fmla="*/ 223 w 1089"/>
              <a:gd name="T101" fmla="*/ 197 h 1188"/>
              <a:gd name="T102" fmla="*/ 276 w 1089"/>
              <a:gd name="T103" fmla="*/ 203 h 1188"/>
              <a:gd name="T104" fmla="*/ 336 w 1089"/>
              <a:gd name="T105" fmla="*/ 34 h 1188"/>
              <a:gd name="T106" fmla="*/ 229 w 1089"/>
              <a:gd name="T107" fmla="*/ 148 h 1188"/>
              <a:gd name="T108" fmla="*/ 119 w 1089"/>
              <a:gd name="T109" fmla="*/ 47 h 1188"/>
              <a:gd name="T110" fmla="*/ 164 w 1089"/>
              <a:gd name="T111" fmla="*/ 203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89" h="1188">
                <a:moveTo>
                  <a:pt x="598" y="609"/>
                </a:moveTo>
                <a:cubicBezTo>
                  <a:pt x="598" y="783"/>
                  <a:pt x="598" y="783"/>
                  <a:pt x="598" y="783"/>
                </a:cubicBezTo>
                <a:cubicBezTo>
                  <a:pt x="598" y="850"/>
                  <a:pt x="619" y="904"/>
                  <a:pt x="661" y="944"/>
                </a:cubicBezTo>
                <a:cubicBezTo>
                  <a:pt x="661" y="944"/>
                  <a:pt x="661" y="944"/>
                  <a:pt x="661" y="944"/>
                </a:cubicBezTo>
                <a:cubicBezTo>
                  <a:pt x="661" y="898"/>
                  <a:pt x="661" y="898"/>
                  <a:pt x="661" y="898"/>
                </a:cubicBezTo>
                <a:cubicBezTo>
                  <a:pt x="645" y="869"/>
                  <a:pt x="637" y="834"/>
                  <a:pt x="637" y="794"/>
                </a:cubicBezTo>
                <a:cubicBezTo>
                  <a:pt x="637" y="760"/>
                  <a:pt x="637" y="760"/>
                  <a:pt x="637" y="760"/>
                </a:cubicBezTo>
                <a:cubicBezTo>
                  <a:pt x="690" y="760"/>
                  <a:pt x="690" y="760"/>
                  <a:pt x="690" y="760"/>
                </a:cubicBezTo>
                <a:cubicBezTo>
                  <a:pt x="690" y="760"/>
                  <a:pt x="690" y="929"/>
                  <a:pt x="690" y="937"/>
                </a:cubicBezTo>
                <a:cubicBezTo>
                  <a:pt x="690" y="953"/>
                  <a:pt x="690" y="962"/>
                  <a:pt x="689" y="966"/>
                </a:cubicBezTo>
                <a:cubicBezTo>
                  <a:pt x="682" y="1063"/>
                  <a:pt x="635" y="1128"/>
                  <a:pt x="544" y="1166"/>
                </a:cubicBezTo>
                <a:cubicBezTo>
                  <a:pt x="454" y="1128"/>
                  <a:pt x="406" y="1063"/>
                  <a:pt x="399" y="967"/>
                </a:cubicBezTo>
                <a:cubicBezTo>
                  <a:pt x="461" y="925"/>
                  <a:pt x="490" y="864"/>
                  <a:pt x="490" y="783"/>
                </a:cubicBezTo>
                <a:cubicBezTo>
                  <a:pt x="490" y="760"/>
                  <a:pt x="490" y="760"/>
                  <a:pt x="490" y="760"/>
                </a:cubicBezTo>
                <a:cubicBezTo>
                  <a:pt x="569" y="760"/>
                  <a:pt x="569" y="760"/>
                  <a:pt x="569" y="760"/>
                </a:cubicBezTo>
                <a:cubicBezTo>
                  <a:pt x="569" y="721"/>
                  <a:pt x="569" y="721"/>
                  <a:pt x="569" y="721"/>
                </a:cubicBezTo>
                <a:cubicBezTo>
                  <a:pt x="360" y="721"/>
                  <a:pt x="360" y="721"/>
                  <a:pt x="360" y="721"/>
                </a:cubicBezTo>
                <a:cubicBezTo>
                  <a:pt x="360" y="929"/>
                  <a:pt x="360" y="929"/>
                  <a:pt x="360" y="929"/>
                </a:cubicBezTo>
                <a:cubicBezTo>
                  <a:pt x="360" y="929"/>
                  <a:pt x="360" y="930"/>
                  <a:pt x="360" y="930"/>
                </a:cubicBezTo>
                <a:cubicBezTo>
                  <a:pt x="360" y="930"/>
                  <a:pt x="360" y="930"/>
                  <a:pt x="360" y="930"/>
                </a:cubicBezTo>
                <a:cubicBezTo>
                  <a:pt x="376" y="919"/>
                  <a:pt x="388" y="906"/>
                  <a:pt x="398" y="890"/>
                </a:cubicBezTo>
                <a:cubicBezTo>
                  <a:pt x="398" y="760"/>
                  <a:pt x="398" y="760"/>
                  <a:pt x="398" y="760"/>
                </a:cubicBezTo>
                <a:cubicBezTo>
                  <a:pt x="452" y="760"/>
                  <a:pt x="452" y="760"/>
                  <a:pt x="452" y="760"/>
                </a:cubicBezTo>
                <a:cubicBezTo>
                  <a:pt x="452" y="794"/>
                  <a:pt x="452" y="794"/>
                  <a:pt x="452" y="794"/>
                </a:cubicBezTo>
                <a:cubicBezTo>
                  <a:pt x="452" y="854"/>
                  <a:pt x="434" y="902"/>
                  <a:pt x="398" y="936"/>
                </a:cubicBezTo>
                <a:cubicBezTo>
                  <a:pt x="383" y="951"/>
                  <a:pt x="370" y="959"/>
                  <a:pt x="361" y="964"/>
                </a:cubicBezTo>
                <a:cubicBezTo>
                  <a:pt x="352" y="970"/>
                  <a:pt x="345" y="973"/>
                  <a:pt x="336" y="977"/>
                </a:cubicBezTo>
                <a:cubicBezTo>
                  <a:pt x="257" y="944"/>
                  <a:pt x="219" y="882"/>
                  <a:pt x="219" y="794"/>
                </a:cubicBezTo>
                <a:cubicBezTo>
                  <a:pt x="219" y="648"/>
                  <a:pt x="219" y="648"/>
                  <a:pt x="219" y="648"/>
                </a:cubicBezTo>
                <a:cubicBezTo>
                  <a:pt x="452" y="648"/>
                  <a:pt x="452" y="648"/>
                  <a:pt x="452" y="648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90" y="692"/>
                  <a:pt x="490" y="692"/>
                  <a:pt x="490" y="692"/>
                </a:cubicBezTo>
                <a:cubicBezTo>
                  <a:pt x="490" y="609"/>
                  <a:pt x="490" y="609"/>
                  <a:pt x="490" y="609"/>
                </a:cubicBezTo>
                <a:cubicBezTo>
                  <a:pt x="181" y="609"/>
                  <a:pt x="181" y="609"/>
                  <a:pt x="181" y="609"/>
                </a:cubicBezTo>
                <a:cubicBezTo>
                  <a:pt x="181" y="783"/>
                  <a:pt x="181" y="783"/>
                  <a:pt x="181" y="783"/>
                </a:cubicBezTo>
                <a:cubicBezTo>
                  <a:pt x="181" y="889"/>
                  <a:pt x="231" y="959"/>
                  <a:pt x="336" y="999"/>
                </a:cubicBezTo>
                <a:cubicBezTo>
                  <a:pt x="346" y="995"/>
                  <a:pt x="355" y="991"/>
                  <a:pt x="364" y="987"/>
                </a:cubicBezTo>
                <a:cubicBezTo>
                  <a:pt x="380" y="1082"/>
                  <a:pt x="439" y="1148"/>
                  <a:pt x="544" y="1188"/>
                </a:cubicBezTo>
                <a:cubicBezTo>
                  <a:pt x="649" y="1148"/>
                  <a:pt x="708" y="1082"/>
                  <a:pt x="724" y="987"/>
                </a:cubicBezTo>
                <a:cubicBezTo>
                  <a:pt x="733" y="991"/>
                  <a:pt x="743" y="995"/>
                  <a:pt x="753" y="999"/>
                </a:cubicBezTo>
                <a:cubicBezTo>
                  <a:pt x="857" y="959"/>
                  <a:pt x="907" y="889"/>
                  <a:pt x="907" y="783"/>
                </a:cubicBezTo>
                <a:cubicBezTo>
                  <a:pt x="907" y="609"/>
                  <a:pt x="907" y="609"/>
                  <a:pt x="907" y="609"/>
                </a:cubicBezTo>
                <a:lnTo>
                  <a:pt x="598" y="609"/>
                </a:lnTo>
                <a:close/>
                <a:moveTo>
                  <a:pt x="869" y="794"/>
                </a:moveTo>
                <a:cubicBezTo>
                  <a:pt x="869" y="882"/>
                  <a:pt x="831" y="944"/>
                  <a:pt x="753" y="977"/>
                </a:cubicBezTo>
                <a:cubicBezTo>
                  <a:pt x="744" y="973"/>
                  <a:pt x="735" y="969"/>
                  <a:pt x="727" y="964"/>
                </a:cubicBezTo>
                <a:cubicBezTo>
                  <a:pt x="728" y="953"/>
                  <a:pt x="729" y="941"/>
                  <a:pt x="729" y="929"/>
                </a:cubicBezTo>
                <a:cubicBezTo>
                  <a:pt x="729" y="721"/>
                  <a:pt x="729" y="721"/>
                  <a:pt x="729" y="721"/>
                </a:cubicBezTo>
                <a:cubicBezTo>
                  <a:pt x="637" y="721"/>
                  <a:pt x="637" y="721"/>
                  <a:pt x="637" y="721"/>
                </a:cubicBezTo>
                <a:cubicBezTo>
                  <a:pt x="637" y="648"/>
                  <a:pt x="637" y="648"/>
                  <a:pt x="637" y="648"/>
                </a:cubicBezTo>
                <a:cubicBezTo>
                  <a:pt x="869" y="648"/>
                  <a:pt x="869" y="648"/>
                  <a:pt x="869" y="648"/>
                </a:cubicBezTo>
                <a:lnTo>
                  <a:pt x="869" y="794"/>
                </a:lnTo>
                <a:close/>
                <a:moveTo>
                  <a:pt x="1062" y="347"/>
                </a:moveTo>
                <a:cubicBezTo>
                  <a:pt x="1074" y="347"/>
                  <a:pt x="1074" y="347"/>
                  <a:pt x="1074" y="347"/>
                </a:cubicBezTo>
                <a:cubicBezTo>
                  <a:pt x="1084" y="298"/>
                  <a:pt x="1084" y="298"/>
                  <a:pt x="1084" y="298"/>
                </a:cubicBezTo>
                <a:cubicBezTo>
                  <a:pt x="1068" y="290"/>
                  <a:pt x="1041" y="285"/>
                  <a:pt x="1016" y="285"/>
                </a:cubicBezTo>
                <a:cubicBezTo>
                  <a:pt x="944" y="285"/>
                  <a:pt x="895" y="331"/>
                  <a:pt x="895" y="392"/>
                </a:cubicBezTo>
                <a:cubicBezTo>
                  <a:pt x="895" y="451"/>
                  <a:pt x="938" y="493"/>
                  <a:pt x="1007" y="493"/>
                </a:cubicBezTo>
                <a:cubicBezTo>
                  <a:pt x="1041" y="493"/>
                  <a:pt x="1069" y="482"/>
                  <a:pt x="1089" y="464"/>
                </a:cubicBezTo>
                <a:cubicBezTo>
                  <a:pt x="1080" y="453"/>
                  <a:pt x="1080" y="453"/>
                  <a:pt x="1080" y="453"/>
                </a:cubicBezTo>
                <a:cubicBezTo>
                  <a:pt x="1062" y="466"/>
                  <a:pt x="1040" y="473"/>
                  <a:pt x="1018" y="473"/>
                </a:cubicBezTo>
                <a:cubicBezTo>
                  <a:pt x="969" y="473"/>
                  <a:pt x="932" y="440"/>
                  <a:pt x="932" y="383"/>
                </a:cubicBezTo>
                <a:cubicBezTo>
                  <a:pt x="932" y="331"/>
                  <a:pt x="962" y="302"/>
                  <a:pt x="1009" y="302"/>
                </a:cubicBezTo>
                <a:cubicBezTo>
                  <a:pt x="1047" y="302"/>
                  <a:pt x="1062" y="313"/>
                  <a:pt x="1062" y="341"/>
                </a:cubicBezTo>
                <a:lnTo>
                  <a:pt x="1062" y="347"/>
                </a:lnTo>
                <a:close/>
                <a:moveTo>
                  <a:pt x="783" y="303"/>
                </a:moveTo>
                <a:cubicBezTo>
                  <a:pt x="808" y="304"/>
                  <a:pt x="810" y="306"/>
                  <a:pt x="810" y="320"/>
                </a:cubicBezTo>
                <a:cubicBezTo>
                  <a:pt x="810" y="458"/>
                  <a:pt x="810" y="458"/>
                  <a:pt x="810" y="458"/>
                </a:cubicBezTo>
                <a:cubicBezTo>
                  <a:pt x="810" y="471"/>
                  <a:pt x="808" y="473"/>
                  <a:pt x="783" y="474"/>
                </a:cubicBezTo>
                <a:cubicBezTo>
                  <a:pt x="783" y="489"/>
                  <a:pt x="783" y="489"/>
                  <a:pt x="783" y="489"/>
                </a:cubicBezTo>
                <a:cubicBezTo>
                  <a:pt x="872" y="489"/>
                  <a:pt x="872" y="489"/>
                  <a:pt x="872" y="489"/>
                </a:cubicBezTo>
                <a:cubicBezTo>
                  <a:pt x="872" y="474"/>
                  <a:pt x="872" y="474"/>
                  <a:pt x="872" y="474"/>
                </a:cubicBezTo>
                <a:cubicBezTo>
                  <a:pt x="847" y="473"/>
                  <a:pt x="845" y="471"/>
                  <a:pt x="845" y="458"/>
                </a:cubicBezTo>
                <a:cubicBezTo>
                  <a:pt x="845" y="320"/>
                  <a:pt x="845" y="320"/>
                  <a:pt x="845" y="320"/>
                </a:cubicBezTo>
                <a:cubicBezTo>
                  <a:pt x="845" y="306"/>
                  <a:pt x="847" y="304"/>
                  <a:pt x="872" y="303"/>
                </a:cubicBezTo>
                <a:cubicBezTo>
                  <a:pt x="872" y="289"/>
                  <a:pt x="872" y="289"/>
                  <a:pt x="872" y="289"/>
                </a:cubicBezTo>
                <a:cubicBezTo>
                  <a:pt x="783" y="289"/>
                  <a:pt x="783" y="289"/>
                  <a:pt x="783" y="289"/>
                </a:cubicBezTo>
                <a:lnTo>
                  <a:pt x="783" y="303"/>
                </a:lnTo>
                <a:close/>
                <a:moveTo>
                  <a:pt x="731" y="335"/>
                </a:moveTo>
                <a:cubicBezTo>
                  <a:pt x="731" y="308"/>
                  <a:pt x="736" y="303"/>
                  <a:pt x="758" y="303"/>
                </a:cubicBezTo>
                <a:cubicBezTo>
                  <a:pt x="758" y="289"/>
                  <a:pt x="758" y="289"/>
                  <a:pt x="758" y="289"/>
                </a:cubicBezTo>
                <a:cubicBezTo>
                  <a:pt x="686" y="289"/>
                  <a:pt x="686" y="289"/>
                  <a:pt x="686" y="289"/>
                </a:cubicBezTo>
                <a:cubicBezTo>
                  <a:pt x="686" y="303"/>
                  <a:pt x="686" y="303"/>
                  <a:pt x="686" y="303"/>
                </a:cubicBezTo>
                <a:cubicBezTo>
                  <a:pt x="708" y="303"/>
                  <a:pt x="713" y="308"/>
                  <a:pt x="713" y="335"/>
                </a:cubicBezTo>
                <a:cubicBezTo>
                  <a:pt x="713" y="436"/>
                  <a:pt x="713" y="436"/>
                  <a:pt x="713" y="436"/>
                </a:cubicBezTo>
                <a:cubicBezTo>
                  <a:pt x="584" y="289"/>
                  <a:pt x="584" y="289"/>
                  <a:pt x="584" y="289"/>
                </a:cubicBezTo>
                <a:cubicBezTo>
                  <a:pt x="526" y="289"/>
                  <a:pt x="526" y="289"/>
                  <a:pt x="526" y="289"/>
                </a:cubicBezTo>
                <a:cubicBezTo>
                  <a:pt x="528" y="302"/>
                  <a:pt x="528" y="302"/>
                  <a:pt x="528" y="302"/>
                </a:cubicBezTo>
                <a:cubicBezTo>
                  <a:pt x="552" y="306"/>
                  <a:pt x="555" y="308"/>
                  <a:pt x="555" y="329"/>
                </a:cubicBezTo>
                <a:cubicBezTo>
                  <a:pt x="555" y="443"/>
                  <a:pt x="555" y="443"/>
                  <a:pt x="555" y="443"/>
                </a:cubicBezTo>
                <a:cubicBezTo>
                  <a:pt x="555" y="469"/>
                  <a:pt x="550" y="474"/>
                  <a:pt x="528" y="474"/>
                </a:cubicBezTo>
                <a:cubicBezTo>
                  <a:pt x="528" y="489"/>
                  <a:pt x="528" y="489"/>
                  <a:pt x="528" y="489"/>
                </a:cubicBezTo>
                <a:cubicBezTo>
                  <a:pt x="600" y="489"/>
                  <a:pt x="600" y="489"/>
                  <a:pt x="600" y="489"/>
                </a:cubicBezTo>
                <a:cubicBezTo>
                  <a:pt x="600" y="474"/>
                  <a:pt x="600" y="474"/>
                  <a:pt x="600" y="474"/>
                </a:cubicBezTo>
                <a:cubicBezTo>
                  <a:pt x="577" y="474"/>
                  <a:pt x="573" y="469"/>
                  <a:pt x="573" y="443"/>
                </a:cubicBezTo>
                <a:cubicBezTo>
                  <a:pt x="573" y="329"/>
                  <a:pt x="573" y="329"/>
                  <a:pt x="573" y="329"/>
                </a:cubicBezTo>
                <a:cubicBezTo>
                  <a:pt x="716" y="491"/>
                  <a:pt x="716" y="491"/>
                  <a:pt x="716" y="491"/>
                </a:cubicBezTo>
                <a:cubicBezTo>
                  <a:pt x="731" y="491"/>
                  <a:pt x="731" y="491"/>
                  <a:pt x="731" y="491"/>
                </a:cubicBezTo>
                <a:lnTo>
                  <a:pt x="731" y="335"/>
                </a:lnTo>
                <a:close/>
                <a:moveTo>
                  <a:pt x="408" y="303"/>
                </a:moveTo>
                <a:cubicBezTo>
                  <a:pt x="433" y="304"/>
                  <a:pt x="436" y="306"/>
                  <a:pt x="436" y="320"/>
                </a:cubicBezTo>
                <a:cubicBezTo>
                  <a:pt x="436" y="458"/>
                  <a:pt x="436" y="458"/>
                  <a:pt x="436" y="458"/>
                </a:cubicBezTo>
                <a:cubicBezTo>
                  <a:pt x="436" y="471"/>
                  <a:pt x="433" y="473"/>
                  <a:pt x="408" y="474"/>
                </a:cubicBezTo>
                <a:cubicBezTo>
                  <a:pt x="408" y="489"/>
                  <a:pt x="408" y="489"/>
                  <a:pt x="408" y="489"/>
                </a:cubicBezTo>
                <a:cubicBezTo>
                  <a:pt x="498" y="489"/>
                  <a:pt x="498" y="489"/>
                  <a:pt x="498" y="489"/>
                </a:cubicBezTo>
                <a:cubicBezTo>
                  <a:pt x="498" y="474"/>
                  <a:pt x="498" y="474"/>
                  <a:pt x="498" y="474"/>
                </a:cubicBezTo>
                <a:cubicBezTo>
                  <a:pt x="473" y="473"/>
                  <a:pt x="471" y="471"/>
                  <a:pt x="471" y="458"/>
                </a:cubicBezTo>
                <a:cubicBezTo>
                  <a:pt x="471" y="320"/>
                  <a:pt x="471" y="320"/>
                  <a:pt x="471" y="320"/>
                </a:cubicBezTo>
                <a:cubicBezTo>
                  <a:pt x="471" y="306"/>
                  <a:pt x="473" y="304"/>
                  <a:pt x="498" y="303"/>
                </a:cubicBezTo>
                <a:cubicBezTo>
                  <a:pt x="498" y="289"/>
                  <a:pt x="498" y="289"/>
                  <a:pt x="498" y="289"/>
                </a:cubicBezTo>
                <a:cubicBezTo>
                  <a:pt x="408" y="289"/>
                  <a:pt x="408" y="289"/>
                  <a:pt x="408" y="289"/>
                </a:cubicBezTo>
                <a:lnTo>
                  <a:pt x="408" y="303"/>
                </a:lnTo>
                <a:close/>
                <a:moveTo>
                  <a:pt x="390" y="431"/>
                </a:moveTo>
                <a:cubicBezTo>
                  <a:pt x="379" y="431"/>
                  <a:pt x="379" y="431"/>
                  <a:pt x="379" y="431"/>
                </a:cubicBezTo>
                <a:cubicBezTo>
                  <a:pt x="374" y="440"/>
                  <a:pt x="374" y="440"/>
                  <a:pt x="374" y="440"/>
                </a:cubicBezTo>
                <a:cubicBezTo>
                  <a:pt x="362" y="466"/>
                  <a:pt x="352" y="472"/>
                  <a:pt x="329" y="472"/>
                </a:cubicBezTo>
                <a:cubicBezTo>
                  <a:pt x="292" y="472"/>
                  <a:pt x="292" y="472"/>
                  <a:pt x="292" y="472"/>
                </a:cubicBezTo>
                <a:cubicBezTo>
                  <a:pt x="279" y="472"/>
                  <a:pt x="278" y="467"/>
                  <a:pt x="278" y="449"/>
                </a:cubicBezTo>
                <a:cubicBezTo>
                  <a:pt x="278" y="320"/>
                  <a:pt x="278" y="320"/>
                  <a:pt x="278" y="320"/>
                </a:cubicBezTo>
                <a:cubicBezTo>
                  <a:pt x="278" y="306"/>
                  <a:pt x="280" y="303"/>
                  <a:pt x="309" y="303"/>
                </a:cubicBezTo>
                <a:cubicBezTo>
                  <a:pt x="309" y="289"/>
                  <a:pt x="309" y="289"/>
                  <a:pt x="309" y="289"/>
                </a:cubicBezTo>
                <a:cubicBezTo>
                  <a:pt x="217" y="289"/>
                  <a:pt x="217" y="289"/>
                  <a:pt x="217" y="289"/>
                </a:cubicBezTo>
                <a:cubicBezTo>
                  <a:pt x="217" y="303"/>
                  <a:pt x="217" y="303"/>
                  <a:pt x="217" y="303"/>
                </a:cubicBezTo>
                <a:cubicBezTo>
                  <a:pt x="241" y="304"/>
                  <a:pt x="243" y="306"/>
                  <a:pt x="243" y="320"/>
                </a:cubicBezTo>
                <a:cubicBezTo>
                  <a:pt x="243" y="446"/>
                  <a:pt x="243" y="446"/>
                  <a:pt x="243" y="446"/>
                </a:cubicBezTo>
                <a:cubicBezTo>
                  <a:pt x="243" y="469"/>
                  <a:pt x="241" y="471"/>
                  <a:pt x="219" y="475"/>
                </a:cubicBezTo>
                <a:cubicBezTo>
                  <a:pt x="219" y="489"/>
                  <a:pt x="219" y="489"/>
                  <a:pt x="219" y="489"/>
                </a:cubicBezTo>
                <a:cubicBezTo>
                  <a:pt x="379" y="489"/>
                  <a:pt x="379" y="489"/>
                  <a:pt x="379" y="489"/>
                </a:cubicBezTo>
                <a:lnTo>
                  <a:pt x="390" y="431"/>
                </a:lnTo>
                <a:close/>
                <a:moveTo>
                  <a:pt x="167" y="347"/>
                </a:moveTo>
                <a:cubicBezTo>
                  <a:pt x="179" y="347"/>
                  <a:pt x="179" y="347"/>
                  <a:pt x="179" y="347"/>
                </a:cubicBezTo>
                <a:cubicBezTo>
                  <a:pt x="188" y="298"/>
                  <a:pt x="188" y="298"/>
                  <a:pt x="188" y="298"/>
                </a:cubicBezTo>
                <a:cubicBezTo>
                  <a:pt x="172" y="290"/>
                  <a:pt x="146" y="285"/>
                  <a:pt x="120" y="285"/>
                </a:cubicBezTo>
                <a:cubicBezTo>
                  <a:pt x="49" y="285"/>
                  <a:pt x="0" y="331"/>
                  <a:pt x="0" y="392"/>
                </a:cubicBezTo>
                <a:cubicBezTo>
                  <a:pt x="0" y="451"/>
                  <a:pt x="43" y="493"/>
                  <a:pt x="112" y="493"/>
                </a:cubicBezTo>
                <a:cubicBezTo>
                  <a:pt x="146" y="493"/>
                  <a:pt x="174" y="482"/>
                  <a:pt x="193" y="464"/>
                </a:cubicBezTo>
                <a:cubicBezTo>
                  <a:pt x="185" y="453"/>
                  <a:pt x="185" y="453"/>
                  <a:pt x="185" y="453"/>
                </a:cubicBezTo>
                <a:cubicBezTo>
                  <a:pt x="167" y="466"/>
                  <a:pt x="145" y="473"/>
                  <a:pt x="123" y="473"/>
                </a:cubicBezTo>
                <a:cubicBezTo>
                  <a:pt x="74" y="473"/>
                  <a:pt x="37" y="440"/>
                  <a:pt x="37" y="383"/>
                </a:cubicBezTo>
                <a:cubicBezTo>
                  <a:pt x="37" y="331"/>
                  <a:pt x="66" y="302"/>
                  <a:pt x="114" y="302"/>
                </a:cubicBezTo>
                <a:cubicBezTo>
                  <a:pt x="152" y="302"/>
                  <a:pt x="167" y="313"/>
                  <a:pt x="167" y="341"/>
                </a:cubicBezTo>
                <a:lnTo>
                  <a:pt x="167" y="347"/>
                </a:lnTo>
                <a:close/>
                <a:moveTo>
                  <a:pt x="813" y="98"/>
                </a:moveTo>
                <a:cubicBezTo>
                  <a:pt x="813" y="45"/>
                  <a:pt x="840" y="16"/>
                  <a:pt x="884" y="16"/>
                </a:cubicBezTo>
                <a:cubicBezTo>
                  <a:pt x="930" y="16"/>
                  <a:pt x="960" y="50"/>
                  <a:pt x="960" y="109"/>
                </a:cubicBezTo>
                <a:cubicBezTo>
                  <a:pt x="960" y="162"/>
                  <a:pt x="933" y="190"/>
                  <a:pt x="889" y="190"/>
                </a:cubicBezTo>
                <a:cubicBezTo>
                  <a:pt x="843" y="190"/>
                  <a:pt x="813" y="156"/>
                  <a:pt x="813" y="98"/>
                </a:cubicBezTo>
                <a:moveTo>
                  <a:pt x="776" y="107"/>
                </a:moveTo>
                <a:cubicBezTo>
                  <a:pt x="776" y="167"/>
                  <a:pt x="816" y="207"/>
                  <a:pt x="883" y="207"/>
                </a:cubicBezTo>
                <a:cubicBezTo>
                  <a:pt x="951" y="207"/>
                  <a:pt x="997" y="163"/>
                  <a:pt x="997" y="100"/>
                </a:cubicBezTo>
                <a:cubicBezTo>
                  <a:pt x="997" y="40"/>
                  <a:pt x="957" y="0"/>
                  <a:pt x="890" y="0"/>
                </a:cubicBezTo>
                <a:cubicBezTo>
                  <a:pt x="822" y="0"/>
                  <a:pt x="776" y="44"/>
                  <a:pt x="776" y="107"/>
                </a:cubicBezTo>
                <a:moveTo>
                  <a:pt x="714" y="189"/>
                </a:moveTo>
                <a:cubicBezTo>
                  <a:pt x="689" y="188"/>
                  <a:pt x="687" y="186"/>
                  <a:pt x="687" y="172"/>
                </a:cubicBezTo>
                <a:cubicBezTo>
                  <a:pt x="687" y="115"/>
                  <a:pt x="687" y="115"/>
                  <a:pt x="687" y="115"/>
                </a:cubicBezTo>
                <a:cubicBezTo>
                  <a:pt x="743" y="36"/>
                  <a:pt x="743" y="36"/>
                  <a:pt x="743" y="36"/>
                </a:cubicBezTo>
                <a:cubicBezTo>
                  <a:pt x="753" y="22"/>
                  <a:pt x="756" y="18"/>
                  <a:pt x="771" y="18"/>
                </a:cubicBezTo>
                <a:cubicBezTo>
                  <a:pt x="771" y="4"/>
                  <a:pt x="771" y="4"/>
                  <a:pt x="771" y="4"/>
                </a:cubicBezTo>
                <a:cubicBezTo>
                  <a:pt x="702" y="4"/>
                  <a:pt x="702" y="4"/>
                  <a:pt x="702" y="4"/>
                </a:cubicBezTo>
                <a:cubicBezTo>
                  <a:pt x="702" y="17"/>
                  <a:pt x="702" y="17"/>
                  <a:pt x="702" y="17"/>
                </a:cubicBezTo>
                <a:cubicBezTo>
                  <a:pt x="720" y="18"/>
                  <a:pt x="724" y="21"/>
                  <a:pt x="724" y="27"/>
                </a:cubicBezTo>
                <a:cubicBezTo>
                  <a:pt x="724" y="31"/>
                  <a:pt x="722" y="36"/>
                  <a:pt x="718" y="42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40" y="40"/>
                  <a:pt x="640" y="40"/>
                  <a:pt x="640" y="40"/>
                </a:cubicBezTo>
                <a:cubicBezTo>
                  <a:pt x="636" y="34"/>
                  <a:pt x="634" y="31"/>
                  <a:pt x="634" y="27"/>
                </a:cubicBezTo>
                <a:cubicBezTo>
                  <a:pt x="634" y="21"/>
                  <a:pt x="639" y="18"/>
                  <a:pt x="657" y="17"/>
                </a:cubicBezTo>
                <a:cubicBezTo>
                  <a:pt x="657" y="4"/>
                  <a:pt x="657" y="4"/>
                  <a:pt x="657" y="4"/>
                </a:cubicBezTo>
                <a:cubicBezTo>
                  <a:pt x="568" y="4"/>
                  <a:pt x="568" y="4"/>
                  <a:pt x="568" y="4"/>
                </a:cubicBezTo>
                <a:cubicBezTo>
                  <a:pt x="568" y="18"/>
                  <a:pt x="568" y="18"/>
                  <a:pt x="568" y="18"/>
                </a:cubicBezTo>
                <a:cubicBezTo>
                  <a:pt x="581" y="18"/>
                  <a:pt x="585" y="22"/>
                  <a:pt x="595" y="36"/>
                </a:cubicBezTo>
                <a:cubicBezTo>
                  <a:pt x="652" y="117"/>
                  <a:pt x="652" y="117"/>
                  <a:pt x="652" y="117"/>
                </a:cubicBezTo>
                <a:cubicBezTo>
                  <a:pt x="652" y="172"/>
                  <a:pt x="652" y="172"/>
                  <a:pt x="652" y="172"/>
                </a:cubicBezTo>
                <a:cubicBezTo>
                  <a:pt x="652" y="186"/>
                  <a:pt x="650" y="188"/>
                  <a:pt x="625" y="189"/>
                </a:cubicBezTo>
                <a:cubicBezTo>
                  <a:pt x="625" y="203"/>
                  <a:pt x="625" y="203"/>
                  <a:pt x="625" y="203"/>
                </a:cubicBezTo>
                <a:cubicBezTo>
                  <a:pt x="714" y="203"/>
                  <a:pt x="714" y="203"/>
                  <a:pt x="714" y="203"/>
                </a:cubicBezTo>
                <a:lnTo>
                  <a:pt x="714" y="189"/>
                </a:lnTo>
                <a:close/>
                <a:moveTo>
                  <a:pt x="444" y="120"/>
                </a:moveTo>
                <a:cubicBezTo>
                  <a:pt x="476" y="47"/>
                  <a:pt x="476" y="47"/>
                  <a:pt x="476" y="47"/>
                </a:cubicBezTo>
                <a:cubicBezTo>
                  <a:pt x="508" y="120"/>
                  <a:pt x="508" y="120"/>
                  <a:pt x="508" y="120"/>
                </a:cubicBezTo>
                <a:lnTo>
                  <a:pt x="444" y="120"/>
                </a:lnTo>
                <a:close/>
                <a:moveTo>
                  <a:pt x="446" y="189"/>
                </a:moveTo>
                <a:cubicBezTo>
                  <a:pt x="427" y="189"/>
                  <a:pt x="421" y="185"/>
                  <a:pt x="421" y="176"/>
                </a:cubicBezTo>
                <a:cubicBezTo>
                  <a:pt x="421" y="173"/>
                  <a:pt x="423" y="168"/>
                  <a:pt x="425" y="164"/>
                </a:cubicBezTo>
                <a:cubicBezTo>
                  <a:pt x="437" y="136"/>
                  <a:pt x="437" y="136"/>
                  <a:pt x="437" y="136"/>
                </a:cubicBezTo>
                <a:cubicBezTo>
                  <a:pt x="515" y="136"/>
                  <a:pt x="515" y="136"/>
                  <a:pt x="515" y="136"/>
                </a:cubicBezTo>
                <a:cubicBezTo>
                  <a:pt x="528" y="167"/>
                  <a:pt x="528" y="167"/>
                  <a:pt x="528" y="167"/>
                </a:cubicBezTo>
                <a:cubicBezTo>
                  <a:pt x="530" y="171"/>
                  <a:pt x="531" y="175"/>
                  <a:pt x="531" y="178"/>
                </a:cubicBezTo>
                <a:cubicBezTo>
                  <a:pt x="531" y="186"/>
                  <a:pt x="526" y="189"/>
                  <a:pt x="509" y="189"/>
                </a:cubicBezTo>
                <a:cubicBezTo>
                  <a:pt x="509" y="203"/>
                  <a:pt x="509" y="203"/>
                  <a:pt x="509" y="203"/>
                </a:cubicBezTo>
                <a:cubicBezTo>
                  <a:pt x="591" y="203"/>
                  <a:pt x="591" y="203"/>
                  <a:pt x="591" y="203"/>
                </a:cubicBezTo>
                <a:cubicBezTo>
                  <a:pt x="591" y="189"/>
                  <a:pt x="591" y="189"/>
                  <a:pt x="591" y="189"/>
                </a:cubicBezTo>
                <a:cubicBezTo>
                  <a:pt x="576" y="188"/>
                  <a:pt x="574" y="185"/>
                  <a:pt x="567" y="169"/>
                </a:cubicBezTo>
                <a:cubicBezTo>
                  <a:pt x="492" y="1"/>
                  <a:pt x="492" y="1"/>
                  <a:pt x="492" y="1"/>
                </a:cubicBezTo>
                <a:cubicBezTo>
                  <a:pt x="478" y="1"/>
                  <a:pt x="478" y="1"/>
                  <a:pt x="478" y="1"/>
                </a:cubicBezTo>
                <a:cubicBezTo>
                  <a:pt x="403" y="169"/>
                  <a:pt x="403" y="169"/>
                  <a:pt x="403" y="169"/>
                </a:cubicBezTo>
                <a:cubicBezTo>
                  <a:pt x="397" y="185"/>
                  <a:pt x="394" y="188"/>
                  <a:pt x="379" y="189"/>
                </a:cubicBezTo>
                <a:cubicBezTo>
                  <a:pt x="379" y="203"/>
                  <a:pt x="379" y="203"/>
                  <a:pt x="379" y="203"/>
                </a:cubicBezTo>
                <a:cubicBezTo>
                  <a:pt x="446" y="203"/>
                  <a:pt x="446" y="203"/>
                  <a:pt x="446" y="203"/>
                </a:cubicBezTo>
                <a:lnTo>
                  <a:pt x="446" y="189"/>
                </a:lnTo>
                <a:close/>
                <a:moveTo>
                  <a:pt x="164" y="189"/>
                </a:moveTo>
                <a:cubicBezTo>
                  <a:pt x="142" y="189"/>
                  <a:pt x="137" y="184"/>
                  <a:pt x="137" y="157"/>
                </a:cubicBezTo>
                <a:cubicBezTo>
                  <a:pt x="137" y="42"/>
                  <a:pt x="137" y="42"/>
                  <a:pt x="137" y="42"/>
                </a:cubicBezTo>
                <a:cubicBezTo>
                  <a:pt x="216" y="197"/>
                  <a:pt x="216" y="197"/>
                  <a:pt x="216" y="197"/>
                </a:cubicBezTo>
                <a:cubicBezTo>
                  <a:pt x="223" y="197"/>
                  <a:pt x="223" y="197"/>
                  <a:pt x="223" y="197"/>
                </a:cubicBezTo>
                <a:cubicBezTo>
                  <a:pt x="301" y="42"/>
                  <a:pt x="301" y="42"/>
                  <a:pt x="301" y="42"/>
                </a:cubicBezTo>
                <a:cubicBezTo>
                  <a:pt x="301" y="172"/>
                  <a:pt x="301" y="172"/>
                  <a:pt x="301" y="172"/>
                </a:cubicBezTo>
                <a:cubicBezTo>
                  <a:pt x="301" y="186"/>
                  <a:pt x="299" y="188"/>
                  <a:pt x="276" y="189"/>
                </a:cubicBezTo>
                <a:cubicBezTo>
                  <a:pt x="276" y="203"/>
                  <a:pt x="276" y="203"/>
                  <a:pt x="276" y="203"/>
                </a:cubicBezTo>
                <a:cubicBezTo>
                  <a:pt x="362" y="203"/>
                  <a:pt x="362" y="203"/>
                  <a:pt x="362" y="203"/>
                </a:cubicBezTo>
                <a:cubicBezTo>
                  <a:pt x="362" y="189"/>
                  <a:pt x="362" y="189"/>
                  <a:pt x="362" y="189"/>
                </a:cubicBezTo>
                <a:cubicBezTo>
                  <a:pt x="338" y="188"/>
                  <a:pt x="336" y="186"/>
                  <a:pt x="336" y="172"/>
                </a:cubicBezTo>
                <a:cubicBezTo>
                  <a:pt x="336" y="34"/>
                  <a:pt x="336" y="34"/>
                  <a:pt x="336" y="34"/>
                </a:cubicBezTo>
                <a:cubicBezTo>
                  <a:pt x="336" y="21"/>
                  <a:pt x="338" y="19"/>
                  <a:pt x="362" y="18"/>
                </a:cubicBezTo>
                <a:cubicBezTo>
                  <a:pt x="362" y="4"/>
                  <a:pt x="362" y="4"/>
                  <a:pt x="362" y="4"/>
                </a:cubicBezTo>
                <a:cubicBezTo>
                  <a:pt x="302" y="4"/>
                  <a:pt x="302" y="4"/>
                  <a:pt x="302" y="4"/>
                </a:cubicBezTo>
                <a:cubicBezTo>
                  <a:pt x="229" y="148"/>
                  <a:pt x="229" y="148"/>
                  <a:pt x="229" y="148"/>
                </a:cubicBezTo>
                <a:cubicBezTo>
                  <a:pt x="156" y="4"/>
                  <a:pt x="156" y="4"/>
                  <a:pt x="156" y="4"/>
                </a:cubicBezTo>
                <a:cubicBezTo>
                  <a:pt x="92" y="4"/>
                  <a:pt x="92" y="4"/>
                  <a:pt x="92" y="4"/>
                </a:cubicBezTo>
                <a:cubicBezTo>
                  <a:pt x="92" y="17"/>
                  <a:pt x="92" y="17"/>
                  <a:pt x="92" y="17"/>
                </a:cubicBezTo>
                <a:cubicBezTo>
                  <a:pt x="115" y="20"/>
                  <a:pt x="119" y="22"/>
                  <a:pt x="119" y="47"/>
                </a:cubicBezTo>
                <a:cubicBezTo>
                  <a:pt x="119" y="157"/>
                  <a:pt x="119" y="157"/>
                  <a:pt x="119" y="157"/>
                </a:cubicBezTo>
                <a:cubicBezTo>
                  <a:pt x="119" y="184"/>
                  <a:pt x="114" y="189"/>
                  <a:pt x="92" y="189"/>
                </a:cubicBezTo>
                <a:cubicBezTo>
                  <a:pt x="92" y="203"/>
                  <a:pt x="92" y="203"/>
                  <a:pt x="92" y="203"/>
                </a:cubicBezTo>
                <a:cubicBezTo>
                  <a:pt x="164" y="203"/>
                  <a:pt x="164" y="203"/>
                  <a:pt x="164" y="203"/>
                </a:cubicBezTo>
                <a:lnTo>
                  <a:pt x="164" y="18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04" tIns="45703" rIns="91404" bIns="45703" numCol="1" anchor="t" anchorCtr="0" compatLnSpc="1">
            <a:prstTxWarp prst="textNoShape">
              <a:avLst/>
            </a:prstTxWarp>
          </a:bodyPr>
          <a:lstStyle/>
          <a:p>
            <a:pPr defTabSz="1218617"/>
            <a:endParaRPr lang="en-US" sz="3198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973395" y="5"/>
            <a:ext cx="3384161" cy="1333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04" tIns="45703" rIns="91404" bIns="45703" rtlCol="0" anchor="ctr"/>
          <a:lstStyle/>
          <a:p>
            <a:pPr algn="ctr" defTabSz="1218617"/>
            <a:endParaRPr lang="en-US" sz="3198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721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rategy and 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5F197-B1B8-4584-8B75-5D45B647D25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73392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973392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3547929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6122467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0"/>
          </p:nvPr>
        </p:nvSpPr>
        <p:spPr>
          <a:xfrm>
            <a:off x="8697003" y="4610073"/>
            <a:ext cx="2286595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1"/>
          </p:nvPr>
        </p:nvSpPr>
        <p:spPr>
          <a:xfrm>
            <a:off x="3547929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2"/>
          </p:nvPr>
        </p:nvSpPr>
        <p:spPr>
          <a:xfrm>
            <a:off x="6122467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23"/>
          </p:nvPr>
        </p:nvSpPr>
        <p:spPr>
          <a:xfrm>
            <a:off x="8697003" y="4892548"/>
            <a:ext cx="2286595" cy="1444752"/>
          </a:xfrm>
        </p:spPr>
        <p:txBody>
          <a:bodyPr tIns="91440" bIns="45720"/>
          <a:lstStyle>
            <a:lvl1pPr marL="171450" indent="-171450">
              <a:spcBef>
                <a:spcPts val="900"/>
              </a:spcBef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24"/>
          </p:nvPr>
        </p:nvSpPr>
        <p:spPr>
          <a:xfrm>
            <a:off x="973392" y="1866900"/>
            <a:ext cx="10001526" cy="552450"/>
          </a:xfrm>
        </p:spPr>
        <p:txBody>
          <a:bodyPr tIns="91440"/>
          <a:lstStyle>
            <a:lvl1pPr marL="0" indent="0">
              <a:spcBef>
                <a:spcPts val="0"/>
              </a:spcBef>
              <a:buNone/>
              <a:defRPr sz="1600"/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25"/>
          </p:nvPr>
        </p:nvSpPr>
        <p:spPr>
          <a:xfrm>
            <a:off x="973498" y="1597025"/>
            <a:ext cx="10004002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2"/>
          <p:cNvSpPr>
            <a:spLocks noGrp="1"/>
          </p:cNvSpPr>
          <p:nvPr>
            <p:ph idx="26"/>
          </p:nvPr>
        </p:nvSpPr>
        <p:spPr>
          <a:xfrm>
            <a:off x="973392" y="3162301"/>
            <a:ext cx="10001526" cy="923925"/>
          </a:xfrm>
        </p:spPr>
        <p:txBody>
          <a:bodyPr tIns="91440"/>
          <a:lstStyle>
            <a:lvl1pPr marL="171450" indent="-171450">
              <a:spcBef>
                <a:spcPts val="9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/>
            </a:lvl1pPr>
            <a:lvl4pPr marL="13716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27"/>
          </p:nvPr>
        </p:nvSpPr>
        <p:spPr>
          <a:xfrm>
            <a:off x="973498" y="2889547"/>
            <a:ext cx="10004002" cy="274320"/>
          </a:xfrm>
        </p:spPr>
        <p:txBody>
          <a:bodyPr bIns="0" anchor="t" anchorCtr="0"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973392" y="0"/>
            <a:ext cx="3384161" cy="1333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2266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Relationship Id="rId4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270" y="817496"/>
            <a:ext cx="9998350" cy="587375"/>
          </a:xfrm>
          <a:prstGeom prst="rect">
            <a:avLst/>
          </a:prstGeom>
        </p:spPr>
        <p:txBody>
          <a:bodyPr vert="horz" lIns="0" tIns="0" rIns="0" bIns="45724" rtlCol="0" anchor="t" anchorCtr="0">
            <a:no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271" y="2143126"/>
            <a:ext cx="9985646" cy="3843019"/>
          </a:xfrm>
          <a:prstGeom prst="rect">
            <a:avLst/>
          </a:prstGeom>
        </p:spPr>
        <p:txBody>
          <a:bodyPr vert="horz" lIns="0" tIns="0" rIns="0" bIns="4572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4177" y="6528816"/>
            <a:ext cx="877824" cy="109728"/>
          </a:xfrm>
          <a:prstGeom prst="rect">
            <a:avLst/>
          </a:prstGeom>
        </p:spPr>
        <p:txBody>
          <a:bodyPr vert="horz" lIns="91448" tIns="0" rIns="91448" bIns="0" rtlCol="0" anchor="ctr"/>
          <a:lstStyle>
            <a:lvl1pPr algn="r"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465F197-B1B8-4584-8B75-5D45B647D250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35200" y="6135688"/>
            <a:ext cx="9434377" cy="365760"/>
          </a:xfrm>
          <a:prstGeom prst="rect">
            <a:avLst/>
          </a:prstGeom>
        </p:spPr>
        <p:txBody>
          <a:bodyPr vert="horz" lIns="0" tIns="45724" rIns="0" bIns="0" rtlCol="0" anchor="b" anchorCtr="0"/>
          <a:lstStyle>
            <a:lvl1pPr algn="r">
              <a:lnSpc>
                <a:spcPct val="90000"/>
              </a:lnSpc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D22CE-B2AC-42D7-9346-E5AE646DF962}"/>
              </a:ext>
            </a:extLst>
          </p:cNvPr>
          <p:cNvSpPr txBox="1"/>
          <p:nvPr userDrawn="1"/>
        </p:nvSpPr>
        <p:spPr>
          <a:xfrm>
            <a:off x="989270" y="6619848"/>
            <a:ext cx="4001543" cy="200053"/>
          </a:xfrm>
          <a:prstGeom prst="rect">
            <a:avLst/>
          </a:prstGeom>
        </p:spPr>
        <p:txBody>
          <a:bodyPr vert="horz" lIns="0" tIns="45724" rIns="0" bIns="45724" rtlCol="0" anchor="ctr">
            <a:noAutofit/>
          </a:bodyPr>
          <a:lstStyle>
            <a:defPPr>
              <a:defRPr lang="en-US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algn="l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©</a:t>
            </a:r>
            <a:fld id="{FD1CEE4C-0B32-4F23-9B87-DA57FCC2E909}" type="datetimeyyyy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2026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Mayo Foundation for Medical Education and Research  |  slide </a:t>
            </a:r>
            <a:fld id="{32D4CE3D-46EA-43C6-ACB1-26417F520AB2}" type="slidenum">
              <a:rPr lang="en-US" sz="8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4ACB6B-D334-4365-8426-D51545CF91C5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859" y="261414"/>
            <a:ext cx="3283771" cy="32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77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84" rtl="0" eaLnBrk="1" latinLnBrk="0" hangingPunct="1">
        <a:lnSpc>
          <a:spcPct val="90000"/>
        </a:lnSpc>
        <a:spcBef>
          <a:spcPct val="0"/>
        </a:spcBef>
        <a:buNone/>
        <a:defRPr sz="2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914484" rtl="0" eaLnBrk="1" latinLnBrk="0" hangingPunct="1">
        <a:lnSpc>
          <a:spcPct val="90000"/>
        </a:lnSpc>
        <a:spcBef>
          <a:spcPts val="1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179388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69863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96975" indent="-174625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6225" indent="-169863" algn="l" defTabSz="914484" rtl="0" eaLnBrk="1" latinLnBrk="0" hangingPunct="1">
        <a:lnSpc>
          <a:spcPct val="90000"/>
        </a:lnSpc>
        <a:spcBef>
          <a:spcPts val="6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30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72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14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56" indent="-228621" algn="l" defTabSz="9144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1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84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25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68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09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52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93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36" algn="l" defTabSz="91448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5">
          <p15:clr>
            <a:srgbClr val="F26B43"/>
          </p15:clr>
        </p15:guide>
        <p15:guide id="5" pos="1751">
          <p15:clr>
            <a:srgbClr val="F26B43"/>
          </p15:clr>
        </p15:guide>
        <p15:guide id="6" pos="3143">
          <p15:clr>
            <a:srgbClr val="F26B43"/>
          </p15:clr>
        </p15:guide>
        <p15:guide id="7" pos="3623">
          <p15:clr>
            <a:srgbClr val="F26B43"/>
          </p15:clr>
        </p15:guide>
        <p15:guide id="8" pos="4055">
          <p15:clr>
            <a:srgbClr val="F26B43"/>
          </p15:clr>
        </p15:guide>
        <p15:guide id="9" pos="4559">
          <p15:clr>
            <a:srgbClr val="F26B43"/>
          </p15:clr>
        </p15:guide>
        <p15:guide id="10" pos="5951">
          <p15:clr>
            <a:srgbClr val="F26B43"/>
          </p15:clr>
        </p15:guide>
        <p15:guide id="11" pos="6911">
          <p15:clr>
            <a:srgbClr val="F26B43"/>
          </p15:clr>
        </p15:guide>
        <p15:guide id="12" pos="7343">
          <p15:clr>
            <a:srgbClr val="F26B43"/>
          </p15:clr>
        </p15:guide>
        <p15:guide id="13" orient="horz" pos="216">
          <p15:clr>
            <a:srgbClr val="F26B43"/>
          </p15:clr>
        </p15:guide>
        <p15:guide id="14" orient="horz" pos="336">
          <p15:clr>
            <a:srgbClr val="F26B43"/>
          </p15:clr>
        </p15:guide>
        <p15:guide id="15" orient="horz" pos="1008">
          <p15:clr>
            <a:srgbClr val="F26B43"/>
          </p15:clr>
        </p15:guide>
        <p15:guide id="16" orient="horz" pos="1248">
          <p15:clr>
            <a:srgbClr val="F26B43"/>
          </p15:clr>
        </p15:guide>
        <p15:guide id="17" orient="horz" pos="3984">
          <p15:clr>
            <a:srgbClr val="F26B43"/>
          </p15:clr>
        </p15:guide>
        <p15:guide id="18" orient="horz" pos="4104">
          <p15:clr>
            <a:srgbClr val="F26B43"/>
          </p15:clr>
        </p15:guide>
        <p15:guide id="19" pos="623">
          <p15:clr>
            <a:srgbClr val="F26B43"/>
          </p15:clr>
        </p15:guide>
        <p15:guide id="20" orient="horz" pos="1344">
          <p15:clr>
            <a:srgbClr val="F26B43"/>
          </p15:clr>
        </p15:guide>
        <p15:guide id="21" pos="3839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Access and Mentor Selection Check-In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our cancer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About 3.5 million people are in the Mayo data; roughly 267,000 have a confirmed cancer.</a:t>
            </a:r>
          </a:p>
          <a:p>
            <a:r>
              <a:t>Even when first diagnosed elsewhere, tens of thousands came to Mayo for their treatment - about 76,000 with treatment we can track.</a:t>
            </a:r>
          </a:p>
          <a:p>
            <a:r>
              <a:t>That gives us what a treatment study needs: what the patient looked like before treatment, and what happened 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question fits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Predicting cancer BEFORE diagnosis needs the run-up data - and for most Mayo patients that lives at the outside hospital that diagnosed them. So early detection doesn't fit here.</a:t>
            </a:r>
          </a:p>
          <a:p>
            <a:r>
              <a:t>Treatment response DOES fit - treatment and follow-up both happen at Mayo.</a:t>
            </a:r>
          </a:p>
          <a:p>
            <a:r>
              <a:t>About 20,000 patients already have a clear outcome we can measure: whether the cancer came back within two years.</a:t>
            </a:r>
          </a:p>
          <a:p>
            <a:r>
              <a:t>We're leaning this way, and finalizing the exact question with our mentors.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data we can draw 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As we scope the study, here is the range of data available to us.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b="1"/>
              <a:t>Lab results &amp; vitals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rPr b="1"/>
              <a:t>Doctors' notes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rPr b="1"/>
              <a:t>Medical images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rPr b="1"/>
              <a:t>Genetic / molecular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 wrap="square"/>
          <a:lstStyle/>
          <a:p>
            <a:r>
              <a:rPr sz="1100"/>
              <a:t>Billions of results going back years. Our main ingredient.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 wrap="square"/>
          <a:lstStyle/>
          <a:p>
            <a:r>
              <a:rPr sz="1100"/>
              <a:t>Hundreds of millions of notes with rich clinical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 wrap="square"/>
          <a:lstStyle/>
          <a:p>
            <a:r>
              <a:rPr sz="1100"/>
              <a:t>Billions of scans (CT, MRI, X-ray) if we add imaging later.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 sz="quarter"/>
          </p:nvPr>
        </p:nvSpPr>
        <p:spPr/>
        <p:txBody>
          <a:bodyPr wrap="square"/>
          <a:lstStyle/>
          <a:p>
            <a:r>
              <a:rPr sz="1100"/>
              <a:t>Limited in what we have today; Mayo has more we could request.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inspiration: the Oncoformer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03120"/>
            <a:ext cx="5577840" cy="3931920"/>
          </a:xfrm>
        </p:spPr>
        <p:txBody>
          <a:bodyPr wrap="square"/>
          <a:lstStyle/>
          <a:p>
            <a:r>
              <a:rPr sz="1500"/>
              <a:t>A 2026 Cell paper: one AI model reads routine clinical data over time to predict cancer outcomes.</a:t>
            </a:r>
          </a:p>
          <a:p>
            <a:r>
              <a:rPr sz="1500"/>
              <a:t>What excites us is the approach - not the specific task.</a:t>
            </a:r>
          </a:p>
          <a:p>
            <a:r>
              <a:rPr sz="1500"/>
              <a:t>We'd adapt it to a question that fits Mayo: treatment response.</a:t>
            </a:r>
          </a:p>
          <a:p>
            <a:r>
              <a:rPr sz="1500"/>
              <a:t>It kicks off our dive into the related research.</a:t>
            </a:r>
          </a:p>
        </p:txBody>
      </p:sp>
      <p:pic>
        <p:nvPicPr>
          <p:cNvPr id="4" name="Picture 3" descr="oncoformer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38404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58521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/>
              <a:t>Figure: Liu et al., Cell (2026), the Oncoformer paper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 1  -  Jeffrey Fetzer, PhD  (Mayo Clinic)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03120"/>
            <a:ext cx="8412480" cy="3931920"/>
          </a:xfrm>
        </p:spPr>
        <p:txBody>
          <a:bodyPr wrap="square"/>
          <a:lstStyle/>
          <a:p>
            <a:r>
              <a:t>Who: a Mayo AI scientist who built a large medical-AI model on Mayo's own data.</a:t>
            </a:r>
          </a:p>
          <a:p>
            <a:r>
              <a:t>Why we value him: he has already done what we're attempting - building and validating an AI model inside Mayo's environment - and cares about doing it rigorously.</a:t>
            </a:r>
          </a:p>
          <a:p>
            <a:r>
              <a:t>How we'll engage: guidance on model design, on proving the results hold up, and on working within the data environment's limits.</a:t>
            </a:r>
          </a:p>
        </p:txBody>
      </p:sp>
      <p:pic>
        <p:nvPicPr>
          <p:cNvPr id="4" name="Picture 3" descr="fetzer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 2  -  Tarek Souaid, MD MPH  (Mayo Clinic)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03120"/>
            <a:ext cx="8412480" cy="3931920"/>
          </a:xfrm>
        </p:spPr>
        <p:txBody>
          <a:bodyPr wrap="square"/>
          <a:lstStyle/>
          <a:p>
            <a:r>
              <a:t>Who: a Mayo physician focused on evaluating AI in real clinical workflows.</a:t>
            </a:r>
          </a:p>
          <a:p>
            <a:r>
              <a:t>Why we value him: a doctor who can tell us whether our patient groups and outcomes make clinical sense - and who works on how to judge whether an AI model is any good.</a:t>
            </a:r>
          </a:p>
          <a:p>
            <a:r>
              <a:t>How we'll engage: clinical sanity-checks on the study, and advice on how we measure success.</a:t>
            </a:r>
          </a:p>
        </p:txBody>
      </p:sp>
      <p:pic>
        <p:nvPicPr>
          <p:cNvPr id="4" name="Picture 3" descr="souaid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Mentor 3  -  Elizabeth Rice  (Mayo Clinic)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03120"/>
            <a:ext cx="8412480" cy="3931920"/>
          </a:xfrm>
        </p:spPr>
        <p:txBody>
          <a:bodyPr wrap="square"/>
          <a:lstStyle/>
          <a:p>
            <a:r>
              <a:t>Who: a healthcare commercial strategist - payers, employers, and market access.</a:t>
            </a:r>
          </a:p>
          <a:p>
            <a:r>
              <a:t>Why we value her: as we think about how this eventually reaches patients, she knows employer-sponsored and payer go-to-market.</a:t>
            </a:r>
          </a:p>
          <a:p>
            <a:r>
              <a:t>How we'll engage: guidance on our commercial strategy, especially employer-sponsored go-to-market.</a:t>
            </a:r>
          </a:p>
        </p:txBody>
      </p:sp>
      <p:pic>
        <p:nvPicPr>
          <p:cNvPr id="4" name="Picture 3" descr="rice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1031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it's going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The environment is working well and we're genuinely enjoying digging into the data.</a:t>
            </a:r>
          </a:p>
          <a:p>
            <a:r>
              <a:t>We understand the data far better than when we started.</a:t>
            </a:r>
          </a:p>
          <a:p>
            <a:r>
              <a:t>Still scoping: the exact model, the specifics around trials and treatments, and the final study design.</a:t>
            </a:r>
          </a:p>
          <a:p>
            <a:r>
              <a:t>Next: lock the study question with our mentors, then start building.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Thank you   -   calder@healthier.inc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MC_White (12-28-2020)">
  <a:themeElements>
    <a:clrScheme name="MC_Platform">
      <a:dk1>
        <a:srgbClr val="FFFFFF"/>
      </a:dk1>
      <a:lt1>
        <a:srgbClr val="000000"/>
      </a:lt1>
      <a:dk2>
        <a:srgbClr val="D2D2D2"/>
      </a:dk2>
      <a:lt2>
        <a:srgbClr val="0057B8"/>
      </a:lt2>
      <a:accent1>
        <a:srgbClr val="0057B8"/>
      </a:accent1>
      <a:accent2>
        <a:srgbClr val="009CDE"/>
      </a:accent2>
      <a:accent3>
        <a:srgbClr val="9CDBD9"/>
      </a:accent3>
      <a:accent4>
        <a:srgbClr val="001C96"/>
      </a:accent4>
      <a:accent5>
        <a:srgbClr val="8246AF"/>
      </a:accent5>
      <a:accent6>
        <a:srgbClr val="FFC845"/>
      </a:accent6>
      <a:hlink>
        <a:srgbClr val="0057B8"/>
      </a:hlink>
      <a:folHlink>
        <a:srgbClr val="A8A8A8"/>
      </a:folHlink>
    </a:clrScheme>
    <a:fontScheme name="mc-white-widescre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c-white-widescre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_MC_White (9-20-2021).pptx" id="{8725D89F-A5CE-45B9-83E6-5312AD892217}" vid="{A444E8F4-F276-42CB-B36F-2102C455E7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E19F43D926154096D6BAE67B2003BF" ma:contentTypeVersion="20" ma:contentTypeDescription="Create a new document." ma:contentTypeScope="" ma:versionID="447124585a9e4f4b2584b3d19f0f1366">
  <xsd:schema xmlns:xsd="http://www.w3.org/2001/XMLSchema" xmlns:xs="http://www.w3.org/2001/XMLSchema" xmlns:p="http://schemas.microsoft.com/office/2006/metadata/properties" xmlns:ns2="a0a467d5-68b5-4996-b2b7-22e9e8897bb4" xmlns:ns3="65169b7e-6bcc-423e-971e-ba6cbb174d79" targetNamespace="http://schemas.microsoft.com/office/2006/metadata/properties" ma:root="true" ma:fieldsID="15cba14f9496098e2d7ebdd8710c070c" ns2:_="" ns3:_="">
    <xsd:import namespace="a0a467d5-68b5-4996-b2b7-22e9e8897bb4"/>
    <xsd:import namespace="65169b7e-6bcc-423e-971e-ba6cbb174d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a467d5-68b5-4996-b2b7-22e9e8897b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c5d3906-26d2-4840-9c74-966ccfe297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169b7e-6bcc-423e-971e-ba6cbb174d79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4e78e05-4396-4a90-862f-e28bbb7dc40d}" ma:internalName="TaxCatchAll" ma:showField="CatchAllData" ma:web="65169b7e-6bcc-423e-971e-ba6cbb174d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169b7e-6bcc-423e-971e-ba6cbb174d79" xsi:nil="true"/>
    <lcf76f155ced4ddcb4097134ff3c332f xmlns="a0a467d5-68b5-4996-b2b7-22e9e8897bb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619CA-DE00-4960-82B0-E8F4E78DE5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4B320-3754-47CD-97B9-DAF61376BC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a467d5-68b5-4996-b2b7-22e9e8897bb4"/>
    <ds:schemaRef ds:uri="65169b7e-6bcc-423e-971e-ba6cbb174d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9F8E13-E21D-4FD4-BF10-CAE92EDA66C8}">
  <ds:schemaRefs>
    <ds:schemaRef ds:uri="http://schemas.microsoft.com/office/2006/metadata/properties"/>
    <ds:schemaRef ds:uri="http://schemas.microsoft.com/office/infopath/2007/PartnerControls"/>
    <ds:schemaRef ds:uri="65169b7e-6bcc-423e-971e-ba6cbb174d79"/>
    <ds:schemaRef ds:uri="a0a467d5-68b5-4996-b2b7-22e9e8897bb4"/>
  </ds:schemaRefs>
</ds:datastoreItem>
</file>

<file path=docMetadata/LabelInfo.xml><?xml version="1.0" encoding="utf-8"?>
<clbl:labelList xmlns:clbl="http://schemas.microsoft.com/office/2020/mipLabelMetadata">
  <clbl:label id="{11372f5f-8e19-4efb-8afe-8eac20a980c4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187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72</vt:lpstr>
      <vt:lpstr>Arial</vt:lpstr>
      <vt:lpstr>Arial Narrow</vt:lpstr>
      <vt:lpstr>2020_MC_White (12-28-2020)</vt:lpstr>
      <vt:lpstr>Data Access and Mentor Selection Check-In</vt:lpstr>
    </vt:vector>
  </TitlesOfParts>
  <Company>Mayo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Access and Mentor Selection Check-In (Week 10)</dc:title>
  <dc:creator>Resnick, Adam S.</dc:creator>
  <cp:lastModifiedBy>Resnick, Adam S.</cp:lastModifiedBy>
  <cp:revision>4</cp:revision>
  <dcterms:created xsi:type="dcterms:W3CDTF">2024-05-07T15:02:55Z</dcterms:created>
  <dcterms:modified xsi:type="dcterms:W3CDTF">2026-04-15T21:49:14Z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0x01010085E19F43D926154096D6BAE67B2003BF</vt:lpwstr>
  </property>
  <property fmtid="{D5CDD505-2E9C-101B-9397-08002B2CF9AE}" pid="3" name="MediaServiceImageTags">
    <vt:lpwstr/>
  </property>
</Properties>
</file>